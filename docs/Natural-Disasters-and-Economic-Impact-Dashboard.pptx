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6" r:id="rId7"/>
    <p:sldId id="267" r:id="rId8"/>
    <p:sldId id="268" r:id="rId9"/>
  </p:sldIdLst>
  <p:sldSz cx="9144000" cy="5143500" type="screen16x9"/>
  <p:notesSz cx="5143500" cy="9144000"/>
  <p:embeddedFontLst>
    <p:embeddedFont>
      <p:font typeface="Consolas" panose="020B0609020204030204" pitchFamily="49" charset="0"/>
      <p:regular r:id="rId11"/>
      <p:bold r:id="rId12"/>
      <p:italic r:id="rId13"/>
      <p:boldItalic r:id="rId14"/>
    </p:embeddedFont>
    <p:embeddedFont>
      <p:font typeface="DM Sans" pitchFamily="2" charset="0"/>
      <p:regular r:id="rId15"/>
      <p:bold r:id="rId16"/>
      <p:italic r:id="rId17"/>
      <p:boldItalic r:id="rId18"/>
    </p:embeddedFont>
    <p:embeddedFont>
      <p:font typeface="Libre Baskerville" panose="02000000000000000000" pitchFamily="2" charset="0"/>
      <p:regular r:id="rId19"/>
      <p:bold r:id="rId20"/>
      <p:italic r:id="rId21"/>
    </p:embeddedFont>
    <p:embeddedFont>
      <p:font typeface="Open Sans" panose="020B0606030504020204"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1656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9DE2E-179E-F595-B184-BFAD9B6C4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EE6D7-93BB-0AB7-D9CF-35EC27459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4CD67-E67E-019C-CAC5-4073C04B9C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295F6-9197-27DF-DF36-44F994B4348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415372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597E-F748-E520-BC0E-68CBB7482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C5695-BC44-5A1E-D75F-CE0C34CB0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10012-4A13-FE53-DC5E-509853C7FE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047F80-04C2-8B54-4238-D4D69ABDC5D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85380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D3D8-5AE7-BBF1-3138-7D18170CE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22B6E-5620-70A9-365C-857CE2B7E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3EEA9-CABA-CCA1-714F-B06B35A6A6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7124E9-ABA7-4521-741A-BA8893C2F39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3919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txBody>
          <a:bodyPr/>
          <a:lstStyle/>
          <a:p>
            <a:endParaRPr lang="tr-TR"/>
          </a:p>
        </p:txBody>
      </p:sp>
      <p:sp>
        <p:nvSpPr>
          <p:cNvPr id="3" name="Shape 1"/>
          <p:cNvSpPr/>
          <p:nvPr/>
        </p:nvSpPr>
        <p:spPr>
          <a:xfrm>
            <a:off x="0" y="0"/>
            <a:ext cx="9144000" cy="5143500"/>
          </a:xfrm>
          <a:prstGeom prst="rect">
            <a:avLst/>
          </a:prstGeom>
          <a:solidFill>
            <a:srgbClr val="FBFAFF"/>
          </a:solidFill>
          <a:ln/>
        </p:spPr>
        <p:txBody>
          <a:bodyPr/>
          <a:lstStyle/>
          <a:p>
            <a:endParaRPr lang="tr-TR"/>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txBody>
          <a:bodyPr/>
          <a:lstStyle/>
          <a:p>
            <a:endParaRPr lang="tr-TR"/>
          </a:p>
        </p:txBody>
      </p:sp>
      <p:sp>
        <p:nvSpPr>
          <p:cNvPr id="3" name="Shape 1"/>
          <p:cNvSpPr/>
          <p:nvPr/>
        </p:nvSpPr>
        <p:spPr>
          <a:xfrm>
            <a:off x="0" y="0"/>
            <a:ext cx="9144000" cy="5143500"/>
          </a:xfrm>
          <a:prstGeom prst="rect">
            <a:avLst/>
          </a:prstGeom>
          <a:solidFill>
            <a:srgbClr val="FBFAFF"/>
          </a:solidFill>
          <a:ln/>
        </p:spPr>
        <p:txBody>
          <a:bodyPr/>
          <a:lstStyle/>
          <a:p>
            <a:endParaRPr lang="tr-TR"/>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txBody>
          <a:bodyPr/>
          <a:lstStyle/>
          <a:p>
            <a:endParaRPr lang="tr-TR"/>
          </a:p>
        </p:txBody>
      </p:sp>
      <p:sp>
        <p:nvSpPr>
          <p:cNvPr id="3" name="Shape 1"/>
          <p:cNvSpPr/>
          <p:nvPr/>
        </p:nvSpPr>
        <p:spPr>
          <a:xfrm>
            <a:off x="0" y="0"/>
            <a:ext cx="9144000" cy="5143500"/>
          </a:xfrm>
          <a:prstGeom prst="rect">
            <a:avLst/>
          </a:prstGeom>
          <a:solidFill>
            <a:srgbClr val="FBFAFF"/>
          </a:solidFill>
          <a:ln/>
        </p:spPr>
        <p:txBody>
          <a:bodyPr/>
          <a:lstStyle/>
          <a:p>
            <a:endParaRPr lang="tr-TR"/>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txBody>
          <a:bodyPr/>
          <a:lstStyle/>
          <a:p>
            <a:endParaRPr lang="tr-TR"/>
          </a:p>
        </p:txBody>
      </p:sp>
      <p:sp>
        <p:nvSpPr>
          <p:cNvPr id="3" name="Shape 1"/>
          <p:cNvSpPr/>
          <p:nvPr/>
        </p:nvSpPr>
        <p:spPr>
          <a:xfrm>
            <a:off x="0" y="0"/>
            <a:ext cx="9144000" cy="5143500"/>
          </a:xfrm>
          <a:prstGeom prst="rect">
            <a:avLst/>
          </a:prstGeom>
          <a:solidFill>
            <a:srgbClr val="FBFAFF"/>
          </a:solidFill>
          <a:ln/>
        </p:spPr>
        <p:txBody>
          <a:bodyPr/>
          <a:lstStyle/>
          <a:p>
            <a:endParaRPr lang="tr-TR"/>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txBody>
          <a:bodyPr/>
          <a:lstStyle/>
          <a:p>
            <a:endParaRPr lang="tr-TR"/>
          </a:p>
        </p:txBody>
      </p:sp>
      <p:sp>
        <p:nvSpPr>
          <p:cNvPr id="3" name="Shape 1"/>
          <p:cNvSpPr/>
          <p:nvPr/>
        </p:nvSpPr>
        <p:spPr>
          <a:xfrm>
            <a:off x="0" y="0"/>
            <a:ext cx="9144000" cy="5143500"/>
          </a:xfrm>
          <a:prstGeom prst="rect">
            <a:avLst/>
          </a:prstGeom>
          <a:solidFill>
            <a:srgbClr val="FBFAFF"/>
          </a:solidFill>
          <a:ln/>
        </p:spPr>
        <p:txBody>
          <a:bodyPr/>
          <a:lstStyle/>
          <a:p>
            <a:endParaRPr lang="tr-TR"/>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496119" y="1241227"/>
            <a:ext cx="3022202" cy="233214"/>
          </a:xfrm>
          <a:prstGeom prst="roundRect">
            <a:avLst>
              <a:gd name="adj" fmla="val 6383"/>
            </a:avLst>
          </a:prstGeom>
          <a:solidFill>
            <a:srgbClr val="D7D6F5"/>
          </a:solidFill>
          <a:ln/>
        </p:spPr>
        <p:txBody>
          <a:bodyPr/>
          <a:lstStyle/>
          <a:p>
            <a:endParaRPr lang="tr-TR" dirty="0"/>
          </a:p>
        </p:txBody>
      </p:sp>
      <p:sp>
        <p:nvSpPr>
          <p:cNvPr id="4" name="Text 1"/>
          <p:cNvSpPr/>
          <p:nvPr/>
        </p:nvSpPr>
        <p:spPr>
          <a:xfrm>
            <a:off x="570533" y="1278434"/>
            <a:ext cx="2095500" cy="158800"/>
          </a:xfrm>
          <a:prstGeom prst="rect">
            <a:avLst/>
          </a:prstGeom>
          <a:noFill/>
          <a:ln/>
        </p:spPr>
        <p:txBody>
          <a:bodyPr wrap="none" lIns="0" tIns="0" rIns="0" bIns="0" rtlCol="0" anchor="t"/>
          <a:lstStyle/>
          <a:p>
            <a:pPr>
              <a:lnSpc>
                <a:spcPct val="133000"/>
              </a:lnSpc>
            </a:pPr>
            <a:r>
              <a:rPr lang="en-US" sz="750" dirty="0">
                <a:solidFill>
                  <a:srgbClr val="49495A"/>
                </a:solidFill>
                <a:latin typeface="Open Sans" pitchFamily="34" charset="0"/>
                <a:ea typeface="Open Sans" pitchFamily="34" charset="-122"/>
                <a:cs typeface="Open Sans" pitchFamily="34" charset="-120"/>
              </a:rPr>
              <a:t>CEN314 </a:t>
            </a:r>
            <a:r>
              <a:rPr lang="en-US" sz="750" dirty="0">
                <a:solidFill>
                  <a:srgbClr val="4A4A4A"/>
                </a:solidFill>
                <a:latin typeface="DM Sans" pitchFamily="34" charset="0"/>
                <a:ea typeface="DM Sans" pitchFamily="34" charset="-122"/>
                <a:cs typeface="DM Sans" pitchFamily="34" charset="-120"/>
              </a:rPr>
              <a:t>FUNDAMENTALS OF DATA VISUALIZATION</a:t>
            </a:r>
            <a:r>
              <a:rPr lang="en-US" sz="750" dirty="0">
                <a:solidFill>
                  <a:srgbClr val="49495A"/>
                </a:solidFill>
                <a:latin typeface="Open Sans" pitchFamily="34" charset="0"/>
                <a:ea typeface="Open Sans" pitchFamily="34" charset="-122"/>
                <a:cs typeface="Open Sans" pitchFamily="34" charset="-120"/>
              </a:rPr>
              <a:t> FINAL PROJECT </a:t>
            </a:r>
            <a:endParaRPr lang="en-US" sz="750" dirty="0"/>
          </a:p>
        </p:txBody>
      </p:sp>
      <p:sp>
        <p:nvSpPr>
          <p:cNvPr id="5" name="Text 2"/>
          <p:cNvSpPr/>
          <p:nvPr/>
        </p:nvSpPr>
        <p:spPr>
          <a:xfrm>
            <a:off x="496119" y="152400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Natural Disasters &amp; Economic Impact Dashboard</a:t>
            </a:r>
            <a:endParaRPr lang="en-US" sz="2400" dirty="0"/>
          </a:p>
        </p:txBody>
      </p:sp>
      <p:sp>
        <p:nvSpPr>
          <p:cNvPr id="6" name="Text 3"/>
          <p:cNvSpPr/>
          <p:nvPr/>
        </p:nvSpPr>
        <p:spPr>
          <a:xfrm>
            <a:off x="496119" y="2485132"/>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An interactive analytical tool examining the human and economic consequences of natural disasters worldwide from 1900 to 2021 — built with R Shiny and powered by global data.</a:t>
            </a:r>
            <a:endParaRPr lang="en-US" sz="950" dirty="0"/>
          </a:p>
        </p:txBody>
      </p:sp>
      <p:sp>
        <p:nvSpPr>
          <p:cNvPr id="7" name="Text 4"/>
          <p:cNvSpPr/>
          <p:nvPr/>
        </p:nvSpPr>
        <p:spPr>
          <a:xfrm>
            <a:off x="496119" y="3220045"/>
            <a:ext cx="4722763"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49495A"/>
                </a:solidFill>
                <a:latin typeface="Open Sans" pitchFamily="34" charset="0"/>
                <a:ea typeface="Open Sans" pitchFamily="34" charset="-122"/>
                <a:cs typeface="Open Sans" pitchFamily="34" charset="-120"/>
              </a:rPr>
              <a:t>Analyzing Global Disasters (1900–2021)</a:t>
            </a:r>
            <a:endParaRPr lang="en-US" sz="950" dirty="0"/>
          </a:p>
          <a:p>
            <a:pPr marL="342900" indent="-342900" algn="l">
              <a:lnSpc>
                <a:spcPct val="133000"/>
              </a:lnSpc>
              <a:buSzPct val="100000"/>
              <a:buChar char="•"/>
            </a:pPr>
            <a:r>
              <a:rPr lang="en-US" sz="950" dirty="0">
                <a:solidFill>
                  <a:srgbClr val="49495A"/>
                </a:solidFill>
                <a:latin typeface="Open Sans" pitchFamily="34" charset="0"/>
                <a:ea typeface="Open Sans" pitchFamily="34" charset="-122"/>
                <a:cs typeface="Open Sans" pitchFamily="34" charset="-120"/>
              </a:rPr>
              <a:t>Interactive R Shiny Application</a:t>
            </a:r>
            <a:endParaRPr lang="en-US" sz="950" dirty="0"/>
          </a:p>
          <a:p>
            <a:pPr marL="342900" indent="-342900" algn="l">
              <a:lnSpc>
                <a:spcPct val="133000"/>
              </a:lnSpc>
              <a:buSzPct val="100000"/>
              <a:buChar char="•"/>
            </a:pPr>
            <a:r>
              <a:rPr lang="en-US" sz="950" dirty="0">
                <a:solidFill>
                  <a:srgbClr val="49495A"/>
                </a:solidFill>
                <a:latin typeface="Open Sans" pitchFamily="34" charset="0"/>
                <a:ea typeface="Open Sans" pitchFamily="34" charset="-122"/>
                <a:cs typeface="Open Sans" pitchFamily="34" charset="-120"/>
              </a:rPr>
              <a:t>Efil Saylam &amp; Emre Kıran</a:t>
            </a:r>
            <a:endParaRPr lang="en-US" sz="950" dirty="0"/>
          </a:p>
        </p:txBody>
      </p:sp>
      <p:pic>
        <p:nvPicPr>
          <p:cNvPr id="8" name="Image 0" descr="preencoded.png">
            <a:extLst>
              <a:ext uri="{FF2B5EF4-FFF2-40B4-BE49-F238E27FC236}">
                <a16:creationId xmlns:a16="http://schemas.microsoft.com/office/drawing/2014/main" id="{A588A8F4-1C2E-28C5-6FA7-8E812C4CFE39}"/>
              </a:ext>
            </a:extLst>
          </p:cNvPr>
          <p:cNvPicPr>
            <a:picLocks noChangeAspect="1"/>
          </p:cNvPicPr>
          <p:nvPr/>
        </p:nvPicPr>
        <p:blipFill>
          <a:blip r:embed="rId3"/>
          <a:srcRect t="2708" b="3105"/>
          <a:stretch>
            <a:fillRect/>
          </a:stretch>
        </p:blipFill>
        <p:spPr>
          <a:xfrm>
            <a:off x="5490763" y="0"/>
            <a:ext cx="3653237" cy="51613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114425"/>
            <a:ext cx="1067246" cy="242739"/>
          </a:xfrm>
          <a:prstGeom prst="roundRect">
            <a:avLst>
              <a:gd name="adj" fmla="val 6132"/>
            </a:avLst>
          </a:prstGeom>
          <a:noFill/>
          <a:ln w="4763">
            <a:solidFill>
              <a:srgbClr val="403CCF"/>
            </a:solidFill>
            <a:prstDash val="solid"/>
          </a:ln>
        </p:spPr>
        <p:txBody>
          <a:bodyPr/>
          <a:lstStyle/>
          <a:p>
            <a:endParaRPr lang="tr-TR"/>
          </a:p>
        </p:txBody>
      </p:sp>
      <p:sp>
        <p:nvSpPr>
          <p:cNvPr id="3" name="Text 1"/>
          <p:cNvSpPr/>
          <p:nvPr/>
        </p:nvSpPr>
        <p:spPr>
          <a:xfrm>
            <a:off x="575295" y="1156395"/>
            <a:ext cx="1366093" cy="158800"/>
          </a:xfrm>
          <a:prstGeom prst="rect">
            <a:avLst/>
          </a:prstGeom>
          <a:noFill/>
          <a:ln/>
        </p:spPr>
        <p:txBody>
          <a:bodyPr wrap="none" lIns="0" tIns="0" rIns="0" bIns="0" rtlCol="0" anchor="t"/>
          <a:lstStyle/>
          <a:p>
            <a:pPr marL="0" indent="0" algn="l">
              <a:lnSpc>
                <a:spcPct val="133000"/>
              </a:lnSpc>
              <a:buNone/>
            </a:pPr>
            <a:r>
              <a:rPr lang="en-US" sz="750" dirty="0">
                <a:solidFill>
                  <a:srgbClr val="403CCF"/>
                </a:solidFill>
                <a:latin typeface="Open Sans" pitchFamily="34" charset="0"/>
                <a:ea typeface="Open Sans" pitchFamily="34" charset="-122"/>
                <a:cs typeface="Open Sans" pitchFamily="34" charset="-120"/>
              </a:rPr>
              <a:t>PROJECT OVERVIEW</a:t>
            </a:r>
            <a:endParaRPr lang="en-US" sz="750" dirty="0"/>
          </a:p>
        </p:txBody>
      </p:sp>
      <p:sp>
        <p:nvSpPr>
          <p:cNvPr id="4" name="Text 2"/>
          <p:cNvSpPr/>
          <p:nvPr/>
        </p:nvSpPr>
        <p:spPr>
          <a:xfrm>
            <a:off x="496119" y="1406723"/>
            <a:ext cx="6817072"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Project Overview &amp; Research Objectives</a:t>
            </a:r>
            <a:endParaRPr lang="en-US" sz="2400" dirty="0"/>
          </a:p>
        </p:txBody>
      </p:sp>
      <p:sp>
        <p:nvSpPr>
          <p:cNvPr id="5" name="Text 3"/>
          <p:cNvSpPr/>
          <p:nvPr/>
        </p:nvSpPr>
        <p:spPr>
          <a:xfrm>
            <a:off x="496119" y="198030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This project builds an interactive dashboard that analyses the human and economic impact of natural disasters across 120+ years of global data. Three core research questions drive the investigation.</a:t>
            </a:r>
            <a:endParaRPr lang="en-US" sz="950" dirty="0"/>
          </a:p>
        </p:txBody>
      </p:sp>
      <p:sp>
        <p:nvSpPr>
          <p:cNvPr id="6" name="Shape 4"/>
          <p:cNvSpPr/>
          <p:nvPr/>
        </p:nvSpPr>
        <p:spPr>
          <a:xfrm>
            <a:off x="496119" y="2516758"/>
            <a:ext cx="2634555" cy="1512243"/>
          </a:xfrm>
          <a:prstGeom prst="roundRect">
            <a:avLst>
              <a:gd name="adj" fmla="val 1230"/>
            </a:avLst>
          </a:prstGeom>
          <a:solidFill>
            <a:srgbClr val="FBFAFF"/>
          </a:solidFill>
          <a:ln w="14288">
            <a:solidFill>
              <a:srgbClr val="D0CED9"/>
            </a:solidFill>
            <a:prstDash val="solid"/>
          </a:ln>
        </p:spPr>
        <p:txBody>
          <a:bodyPr/>
          <a:lstStyle/>
          <a:p>
            <a:endParaRPr lang="tr-TR"/>
          </a:p>
        </p:txBody>
      </p:sp>
      <p:sp>
        <p:nvSpPr>
          <p:cNvPr id="7" name="Shape 5"/>
          <p:cNvSpPr/>
          <p:nvPr/>
        </p:nvSpPr>
        <p:spPr>
          <a:xfrm>
            <a:off x="510406" y="2531046"/>
            <a:ext cx="2605980" cy="372070"/>
          </a:xfrm>
          <a:prstGeom prst="roundRect">
            <a:avLst>
              <a:gd name="adj" fmla="val 393"/>
            </a:avLst>
          </a:prstGeom>
          <a:solidFill>
            <a:srgbClr val="EAE8F3"/>
          </a:solidFill>
          <a:ln/>
        </p:spPr>
        <p:txBody>
          <a:bodyPr/>
          <a:lstStyle/>
          <a:p>
            <a:endParaRPr lang="tr-TR"/>
          </a:p>
        </p:txBody>
      </p:sp>
      <p:sp>
        <p:nvSpPr>
          <p:cNvPr id="8" name="Text 6"/>
          <p:cNvSpPr/>
          <p:nvPr/>
        </p:nvSpPr>
        <p:spPr>
          <a:xfrm>
            <a:off x="1491779" y="2600771"/>
            <a:ext cx="414635" cy="232544"/>
          </a:xfrm>
          <a:prstGeom prst="rect">
            <a:avLst/>
          </a:prstGeom>
          <a:noFill/>
          <a:ln/>
        </p:spPr>
        <p:txBody>
          <a:bodyPr wrap="none" lIns="0" tIns="0" rIns="0" bIns="0" rtlCol="0" anchor="ctr"/>
          <a:lstStyle/>
          <a:p>
            <a:pPr marL="0" indent="0" algn="ctr">
              <a:lnSpc>
                <a:spcPct val="100000"/>
              </a:lnSpc>
              <a:buNone/>
            </a:pPr>
            <a:r>
              <a:rPr lang="en-US" sz="1450" dirty="0">
                <a:solidFill>
                  <a:srgbClr val="49495A"/>
                </a:solidFill>
                <a:latin typeface="Libre Baskerville" pitchFamily="34" charset="0"/>
                <a:ea typeface="Libre Baskerville" pitchFamily="34" charset="-122"/>
                <a:cs typeface="Libre Baskerville" pitchFamily="34" charset="-120"/>
              </a:rPr>
              <a:t>RQ-1</a:t>
            </a:r>
            <a:endParaRPr lang="en-US" sz="1450" dirty="0"/>
          </a:p>
        </p:txBody>
      </p:sp>
      <p:sp>
        <p:nvSpPr>
          <p:cNvPr id="9" name="Text 7"/>
          <p:cNvSpPr/>
          <p:nvPr/>
        </p:nvSpPr>
        <p:spPr>
          <a:xfrm>
            <a:off x="634380" y="3027090"/>
            <a:ext cx="2799829"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Income &amp; Economic Damage</a:t>
            </a:r>
            <a:endParaRPr lang="en-US" sz="1200" dirty="0"/>
          </a:p>
        </p:txBody>
      </p:sp>
      <p:sp>
        <p:nvSpPr>
          <p:cNvPr id="10" name="Text 8"/>
          <p:cNvSpPr/>
          <p:nvPr/>
        </p:nvSpPr>
        <p:spPr>
          <a:xfrm>
            <a:off x="634380" y="3295352"/>
            <a:ext cx="235803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How does economic damage relate to a country's income level? Do wealthier nations absorb losses differently?</a:t>
            </a:r>
            <a:endParaRPr lang="en-US" sz="950" dirty="0"/>
          </a:p>
        </p:txBody>
      </p:sp>
      <p:sp>
        <p:nvSpPr>
          <p:cNvPr id="11" name="Shape 9"/>
          <p:cNvSpPr/>
          <p:nvPr/>
        </p:nvSpPr>
        <p:spPr>
          <a:xfrm>
            <a:off x="3254648" y="2516758"/>
            <a:ext cx="2634630" cy="1512243"/>
          </a:xfrm>
          <a:prstGeom prst="roundRect">
            <a:avLst>
              <a:gd name="adj" fmla="val 1230"/>
            </a:avLst>
          </a:prstGeom>
          <a:solidFill>
            <a:srgbClr val="FBFAFF"/>
          </a:solidFill>
          <a:ln w="14288">
            <a:solidFill>
              <a:srgbClr val="D0CED9"/>
            </a:solidFill>
            <a:prstDash val="solid"/>
          </a:ln>
        </p:spPr>
        <p:txBody>
          <a:bodyPr/>
          <a:lstStyle/>
          <a:p>
            <a:endParaRPr lang="tr-TR"/>
          </a:p>
        </p:txBody>
      </p:sp>
      <p:sp>
        <p:nvSpPr>
          <p:cNvPr id="12" name="Shape 10"/>
          <p:cNvSpPr/>
          <p:nvPr/>
        </p:nvSpPr>
        <p:spPr>
          <a:xfrm>
            <a:off x="3268935" y="2531046"/>
            <a:ext cx="2606055" cy="372070"/>
          </a:xfrm>
          <a:prstGeom prst="roundRect">
            <a:avLst>
              <a:gd name="adj" fmla="val 393"/>
            </a:avLst>
          </a:prstGeom>
          <a:solidFill>
            <a:srgbClr val="EAE8F3"/>
          </a:solidFill>
          <a:ln/>
        </p:spPr>
        <p:txBody>
          <a:bodyPr/>
          <a:lstStyle/>
          <a:p>
            <a:endParaRPr lang="tr-TR"/>
          </a:p>
        </p:txBody>
      </p:sp>
      <p:sp>
        <p:nvSpPr>
          <p:cNvPr id="13" name="Text 11"/>
          <p:cNvSpPr/>
          <p:nvPr/>
        </p:nvSpPr>
        <p:spPr>
          <a:xfrm>
            <a:off x="4250308" y="2600771"/>
            <a:ext cx="414635" cy="232544"/>
          </a:xfrm>
          <a:prstGeom prst="rect">
            <a:avLst/>
          </a:prstGeom>
          <a:noFill/>
          <a:ln/>
        </p:spPr>
        <p:txBody>
          <a:bodyPr wrap="none" lIns="0" tIns="0" rIns="0" bIns="0" rtlCol="0" anchor="ctr"/>
          <a:lstStyle/>
          <a:p>
            <a:pPr algn="ctr"/>
            <a:r>
              <a:rPr lang="en-US" sz="1450" dirty="0">
                <a:solidFill>
                  <a:srgbClr val="49495A"/>
                </a:solidFill>
                <a:latin typeface="Libre Baskerville" pitchFamily="34" charset="0"/>
                <a:ea typeface="Libre Baskerville" pitchFamily="34" charset="-122"/>
                <a:cs typeface="Libre Baskerville" pitchFamily="34" charset="-120"/>
              </a:rPr>
              <a:t>RQ-2</a:t>
            </a:r>
            <a:endParaRPr lang="en-US" sz="1450" dirty="0"/>
          </a:p>
        </p:txBody>
      </p:sp>
      <p:sp>
        <p:nvSpPr>
          <p:cNvPr id="14" name="Text 12"/>
          <p:cNvSpPr/>
          <p:nvPr/>
        </p:nvSpPr>
        <p:spPr>
          <a:xfrm>
            <a:off x="3392909" y="3027090"/>
            <a:ext cx="2133451"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Disaster Type Trends</a:t>
            </a:r>
            <a:endParaRPr lang="en-US" sz="1200" dirty="0"/>
          </a:p>
        </p:txBody>
      </p:sp>
      <p:sp>
        <p:nvSpPr>
          <p:cNvPr id="15" name="Text 13"/>
          <p:cNvSpPr/>
          <p:nvPr/>
        </p:nvSpPr>
        <p:spPr>
          <a:xfrm>
            <a:off x="3392909" y="3295352"/>
            <a:ext cx="2358107"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Which disaster types cause the most damage, and how has this shifted since 1900?</a:t>
            </a:r>
            <a:endParaRPr lang="en-US" sz="950" dirty="0"/>
          </a:p>
        </p:txBody>
      </p:sp>
      <p:sp>
        <p:nvSpPr>
          <p:cNvPr id="16" name="Shape 14"/>
          <p:cNvSpPr/>
          <p:nvPr/>
        </p:nvSpPr>
        <p:spPr>
          <a:xfrm>
            <a:off x="6013252" y="2516758"/>
            <a:ext cx="2634555" cy="1512243"/>
          </a:xfrm>
          <a:prstGeom prst="roundRect">
            <a:avLst>
              <a:gd name="adj" fmla="val 1230"/>
            </a:avLst>
          </a:prstGeom>
          <a:solidFill>
            <a:srgbClr val="FBFAFF"/>
          </a:solidFill>
          <a:ln w="14288">
            <a:solidFill>
              <a:srgbClr val="D0CED9"/>
            </a:solidFill>
            <a:prstDash val="solid"/>
          </a:ln>
        </p:spPr>
        <p:txBody>
          <a:bodyPr/>
          <a:lstStyle/>
          <a:p>
            <a:endParaRPr lang="tr-TR"/>
          </a:p>
        </p:txBody>
      </p:sp>
      <p:sp>
        <p:nvSpPr>
          <p:cNvPr id="17" name="Shape 15"/>
          <p:cNvSpPr/>
          <p:nvPr/>
        </p:nvSpPr>
        <p:spPr>
          <a:xfrm>
            <a:off x="6027539" y="2531046"/>
            <a:ext cx="2605980" cy="372070"/>
          </a:xfrm>
          <a:prstGeom prst="roundRect">
            <a:avLst>
              <a:gd name="adj" fmla="val 393"/>
            </a:avLst>
          </a:prstGeom>
          <a:solidFill>
            <a:srgbClr val="EAE8F3"/>
          </a:solidFill>
          <a:ln/>
        </p:spPr>
        <p:txBody>
          <a:bodyPr/>
          <a:lstStyle/>
          <a:p>
            <a:endParaRPr lang="tr-TR"/>
          </a:p>
        </p:txBody>
      </p:sp>
      <p:sp>
        <p:nvSpPr>
          <p:cNvPr id="18" name="Text 16"/>
          <p:cNvSpPr/>
          <p:nvPr/>
        </p:nvSpPr>
        <p:spPr>
          <a:xfrm>
            <a:off x="7008912" y="2600771"/>
            <a:ext cx="414635" cy="232544"/>
          </a:xfrm>
          <a:prstGeom prst="rect">
            <a:avLst/>
          </a:prstGeom>
          <a:noFill/>
          <a:ln/>
        </p:spPr>
        <p:txBody>
          <a:bodyPr wrap="none" lIns="0" tIns="0" rIns="0" bIns="0" rtlCol="0" anchor="ctr"/>
          <a:lstStyle/>
          <a:p>
            <a:pPr algn="ctr"/>
            <a:r>
              <a:rPr lang="en-US" sz="1450" dirty="0">
                <a:solidFill>
                  <a:srgbClr val="49495A"/>
                </a:solidFill>
                <a:latin typeface="Libre Baskerville" pitchFamily="34" charset="0"/>
                <a:ea typeface="Libre Baskerville" pitchFamily="34" charset="-122"/>
                <a:cs typeface="Libre Baskerville" pitchFamily="34" charset="-120"/>
              </a:rPr>
              <a:t>RQ-3</a:t>
            </a:r>
            <a:endParaRPr lang="en-US" sz="1450" dirty="0"/>
          </a:p>
        </p:txBody>
      </p:sp>
      <p:sp>
        <p:nvSpPr>
          <p:cNvPr id="19" name="Text 17"/>
          <p:cNvSpPr/>
          <p:nvPr/>
        </p:nvSpPr>
        <p:spPr>
          <a:xfrm>
            <a:off x="6151513" y="3027090"/>
            <a:ext cx="2161505"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Continental Variation</a:t>
            </a:r>
            <a:endParaRPr lang="en-US" sz="1200" dirty="0"/>
          </a:p>
        </p:txBody>
      </p:sp>
      <p:sp>
        <p:nvSpPr>
          <p:cNvPr id="20" name="Text 18"/>
          <p:cNvSpPr/>
          <p:nvPr/>
        </p:nvSpPr>
        <p:spPr>
          <a:xfrm>
            <a:off x="6151513" y="3295352"/>
            <a:ext cx="235803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How do disaster frequencies and economic losses vary across different continents and income groups?</a:t>
            </a:r>
            <a:endParaRPr lang="en-US" sz="950" dirty="0"/>
          </a:p>
        </p:txBody>
      </p:sp>
      <p:pic>
        <p:nvPicPr>
          <p:cNvPr id="22" name="Picture 21">
            <a:extLst>
              <a:ext uri="{FF2B5EF4-FFF2-40B4-BE49-F238E27FC236}">
                <a16:creationId xmlns:a16="http://schemas.microsoft.com/office/drawing/2014/main" id="{AB1A7A60-5326-71E1-E19A-8AD8DEE79178}"/>
              </a:ext>
            </a:extLst>
          </p:cNvPr>
          <p:cNvPicPr>
            <a:picLocks noChangeAspect="1"/>
          </p:cNvPicPr>
          <p:nvPr/>
        </p:nvPicPr>
        <p:blipFill>
          <a:blip r:embed="rId3"/>
          <a:stretch>
            <a:fillRect/>
          </a:stretch>
        </p:blipFill>
        <p:spPr>
          <a:xfrm>
            <a:off x="6724312" y="4733868"/>
            <a:ext cx="2419688" cy="409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Shape 0"/>
          <p:cNvSpPr/>
          <p:nvPr/>
        </p:nvSpPr>
        <p:spPr>
          <a:xfrm>
            <a:off x="3925119" y="646584"/>
            <a:ext cx="1021631" cy="233214"/>
          </a:xfrm>
          <a:prstGeom prst="roundRect">
            <a:avLst>
              <a:gd name="adj" fmla="val 6383"/>
            </a:avLst>
          </a:prstGeom>
          <a:solidFill>
            <a:srgbClr val="D7D6F5"/>
          </a:solidFill>
          <a:ln/>
        </p:spPr>
        <p:txBody>
          <a:bodyPr/>
          <a:lstStyle/>
          <a:p>
            <a:endParaRPr lang="tr-TR"/>
          </a:p>
        </p:txBody>
      </p:sp>
      <p:sp>
        <p:nvSpPr>
          <p:cNvPr id="4" name="Text 1"/>
          <p:cNvSpPr/>
          <p:nvPr/>
        </p:nvSpPr>
        <p:spPr>
          <a:xfrm>
            <a:off x="3999533" y="683791"/>
            <a:ext cx="1330003" cy="158800"/>
          </a:xfrm>
          <a:prstGeom prst="rect">
            <a:avLst/>
          </a:prstGeom>
          <a:noFill/>
          <a:ln/>
        </p:spPr>
        <p:txBody>
          <a:bodyPr wrap="none" lIns="0" tIns="0" rIns="0" bIns="0" rtlCol="0" anchor="t"/>
          <a:lstStyle/>
          <a:p>
            <a:pPr marL="0" indent="0" algn="l">
              <a:lnSpc>
                <a:spcPct val="133000"/>
              </a:lnSpc>
              <a:buNone/>
            </a:pPr>
            <a:r>
              <a:rPr lang="en-US" sz="750" dirty="0">
                <a:solidFill>
                  <a:srgbClr val="49495A"/>
                </a:solidFill>
                <a:latin typeface="Open Sans" pitchFamily="34" charset="0"/>
                <a:ea typeface="Open Sans" pitchFamily="34" charset="-122"/>
                <a:cs typeface="Open Sans" pitchFamily="34" charset="-120"/>
              </a:rPr>
              <a:t>DATA COLLECTION</a:t>
            </a:r>
            <a:endParaRPr lang="en-US" sz="750" dirty="0"/>
          </a:p>
        </p:txBody>
      </p:sp>
      <p:sp>
        <p:nvSpPr>
          <p:cNvPr id="5" name="Text 2"/>
          <p:cNvSpPr/>
          <p:nvPr/>
        </p:nvSpPr>
        <p:spPr>
          <a:xfrm>
            <a:off x="3925119" y="929357"/>
            <a:ext cx="4747543"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Data Sources &amp; Integration</a:t>
            </a:r>
            <a:endParaRPr lang="en-US" sz="24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1723125"/>
            <a:ext cx="248022" cy="248022"/>
          </a:xfrm>
          <a:prstGeom prst="rect">
            <a:avLst/>
          </a:prstGeom>
        </p:spPr>
      </p:pic>
      <p:sp>
        <p:nvSpPr>
          <p:cNvPr id="8" name="Text 4"/>
          <p:cNvSpPr/>
          <p:nvPr/>
        </p:nvSpPr>
        <p:spPr>
          <a:xfrm>
            <a:off x="4328145" y="1765764"/>
            <a:ext cx="3172123"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EM-DAT Global Disaster Database</a:t>
            </a:r>
            <a:endParaRPr lang="en-US" sz="1200" dirty="0"/>
          </a:p>
        </p:txBody>
      </p:sp>
      <p:sp>
        <p:nvSpPr>
          <p:cNvPr id="9" name="Text 5"/>
          <p:cNvSpPr/>
          <p:nvPr/>
        </p:nvSpPr>
        <p:spPr>
          <a:xfrm>
            <a:off x="4328145" y="2034027"/>
            <a:ext cx="4319736"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The primary dataset, EM-DAT, tracks natural disaster events worldwide from 1900 to 2021, recording casualties, economic damages, and affected populations. It is the international standard for disaster epidemiology.</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5119" y="2877436"/>
            <a:ext cx="248022" cy="248022"/>
          </a:xfrm>
          <a:prstGeom prst="rect">
            <a:avLst/>
          </a:prstGeom>
        </p:spPr>
      </p:pic>
      <p:sp>
        <p:nvSpPr>
          <p:cNvPr id="11" name="Text 6"/>
          <p:cNvSpPr/>
          <p:nvPr/>
        </p:nvSpPr>
        <p:spPr>
          <a:xfrm>
            <a:off x="4328145" y="2920075"/>
            <a:ext cx="2671018"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World Bank API Integration</a:t>
            </a:r>
            <a:endParaRPr lang="en-US" sz="1200" dirty="0"/>
          </a:p>
        </p:txBody>
      </p:sp>
      <p:sp>
        <p:nvSpPr>
          <p:cNvPr id="12" name="Text 7"/>
          <p:cNvSpPr/>
          <p:nvPr/>
        </p:nvSpPr>
        <p:spPr>
          <a:xfrm>
            <a:off x="4328145" y="3188338"/>
            <a:ext cx="4319736"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The </a:t>
            </a:r>
            <a:r>
              <a:rPr lang="en-US" sz="950" dirty="0">
                <a:solidFill>
                  <a:srgbClr val="49495A"/>
                </a:solidFill>
                <a:highlight>
                  <a:srgbClr val="EEEDF2"/>
                </a:highlight>
                <a:latin typeface="Consolas" pitchFamily="34" charset="0"/>
                <a:ea typeface="Consolas" pitchFamily="34" charset="-122"/>
                <a:cs typeface="Consolas" pitchFamily="34" charset="-120"/>
              </a:rPr>
              <a:t>wbstats</a:t>
            </a:r>
            <a:r>
              <a:rPr lang="en-US" sz="950" dirty="0">
                <a:solidFill>
                  <a:srgbClr val="49495A"/>
                </a:solidFill>
                <a:latin typeface="Open Sans" pitchFamily="34" charset="0"/>
                <a:ea typeface="Open Sans" pitchFamily="34" charset="-122"/>
                <a:cs typeface="Open Sans" pitchFamily="34" charset="-120"/>
              </a:rPr>
              <a:t> R package was used to fetch live World Bank data dynamically. Country Income Levels, CPI (Inflation) Rates, and GDP figures were merged via ISO-3 country codes, enriching every disaster record with macroeconomic context.</a:t>
            </a:r>
            <a:endParaRPr lang="en-US" sz="950" dirty="0"/>
          </a:p>
        </p:txBody>
      </p:sp>
      <p:pic>
        <p:nvPicPr>
          <p:cNvPr id="14" name="Picture 13">
            <a:extLst>
              <a:ext uri="{FF2B5EF4-FFF2-40B4-BE49-F238E27FC236}">
                <a16:creationId xmlns:a16="http://schemas.microsoft.com/office/drawing/2014/main" id="{FB440F9B-9220-B3F2-C799-A0F160C8A90F}"/>
              </a:ext>
            </a:extLst>
          </p:cNvPr>
          <p:cNvPicPr>
            <a:picLocks noChangeAspect="1"/>
          </p:cNvPicPr>
          <p:nvPr/>
        </p:nvPicPr>
        <p:blipFill>
          <a:blip r:embed="rId6"/>
          <a:stretch>
            <a:fillRect/>
          </a:stretch>
        </p:blipFill>
        <p:spPr>
          <a:xfrm>
            <a:off x="6488013" y="4541111"/>
            <a:ext cx="2657846" cy="5525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769069"/>
            <a:ext cx="1092771" cy="242739"/>
          </a:xfrm>
          <a:prstGeom prst="roundRect">
            <a:avLst>
              <a:gd name="adj" fmla="val 6132"/>
            </a:avLst>
          </a:prstGeom>
          <a:noFill/>
          <a:ln w="4763">
            <a:solidFill>
              <a:srgbClr val="403CCF"/>
            </a:solidFill>
            <a:prstDash val="solid"/>
          </a:ln>
        </p:spPr>
        <p:txBody>
          <a:bodyPr/>
          <a:lstStyle/>
          <a:p>
            <a:endParaRPr lang="tr-TR"/>
          </a:p>
        </p:txBody>
      </p:sp>
      <p:sp>
        <p:nvSpPr>
          <p:cNvPr id="3" name="Text 1"/>
          <p:cNvSpPr/>
          <p:nvPr/>
        </p:nvSpPr>
        <p:spPr>
          <a:xfrm>
            <a:off x="575295" y="811039"/>
            <a:ext cx="1391617" cy="158800"/>
          </a:xfrm>
          <a:prstGeom prst="rect">
            <a:avLst/>
          </a:prstGeom>
          <a:noFill/>
          <a:ln/>
        </p:spPr>
        <p:txBody>
          <a:bodyPr wrap="none" lIns="0" tIns="0" rIns="0" bIns="0" rtlCol="0" anchor="t"/>
          <a:lstStyle/>
          <a:p>
            <a:pPr marL="0" indent="0" algn="l">
              <a:lnSpc>
                <a:spcPct val="133000"/>
              </a:lnSpc>
              <a:buNone/>
            </a:pPr>
            <a:r>
              <a:rPr lang="en-US" sz="750" dirty="0">
                <a:solidFill>
                  <a:srgbClr val="403CCF"/>
                </a:solidFill>
                <a:latin typeface="Open Sans" pitchFamily="34" charset="0"/>
                <a:ea typeface="Open Sans" pitchFamily="34" charset="-122"/>
                <a:cs typeface="Open Sans" pitchFamily="34" charset="-120"/>
              </a:rPr>
              <a:t>DATA PREPARATION</a:t>
            </a:r>
            <a:endParaRPr lang="en-US" sz="750" dirty="0"/>
          </a:p>
        </p:txBody>
      </p:sp>
      <p:sp>
        <p:nvSpPr>
          <p:cNvPr id="4" name="Text 2"/>
          <p:cNvSpPr/>
          <p:nvPr/>
        </p:nvSpPr>
        <p:spPr>
          <a:xfrm>
            <a:off x="496119" y="1061368"/>
            <a:ext cx="5363691"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Data Cleaning &amp; Preprocessing</a:t>
            </a:r>
            <a:endParaRPr lang="en-US" sz="2400" dirty="0"/>
          </a:p>
        </p:txBody>
      </p:sp>
      <p:sp>
        <p:nvSpPr>
          <p:cNvPr id="5" name="Text 3"/>
          <p:cNvSpPr/>
          <p:nvPr/>
        </p:nvSpPr>
        <p:spPr>
          <a:xfrm>
            <a:off x="496119" y="163495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Raw data was heavily processed using the </a:t>
            </a:r>
            <a:r>
              <a:rPr lang="en-US" sz="950" dirty="0">
                <a:solidFill>
                  <a:srgbClr val="49495A"/>
                </a:solidFill>
                <a:highlight>
                  <a:srgbClr val="EEEDF2"/>
                </a:highlight>
                <a:latin typeface="Consolas" pitchFamily="34" charset="0"/>
                <a:ea typeface="Consolas" pitchFamily="34" charset="-122"/>
                <a:cs typeface="Consolas" pitchFamily="34" charset="-120"/>
              </a:rPr>
              <a:t>tidyverse</a:t>
            </a:r>
            <a:r>
              <a:rPr lang="en-US" sz="950" dirty="0">
                <a:solidFill>
                  <a:srgbClr val="49495A"/>
                </a:solidFill>
                <a:latin typeface="Open Sans" pitchFamily="34" charset="0"/>
                <a:ea typeface="Open Sans" pitchFamily="34" charset="-122"/>
                <a:cs typeface="Open Sans" pitchFamily="34" charset="-120"/>
              </a:rPr>
              <a:t> package in R before any analysis was conducted. Rigorous cleaning ensured analytical accuracy and consistency across the 120-year timeline.</a:t>
            </a:r>
            <a:endParaRPr lang="en-US" sz="950" dirty="0"/>
          </a:p>
        </p:txBody>
      </p:sp>
      <p:sp>
        <p:nvSpPr>
          <p:cNvPr id="6" name="Shape 4"/>
          <p:cNvSpPr/>
          <p:nvPr/>
        </p:nvSpPr>
        <p:spPr>
          <a:xfrm>
            <a:off x="406822" y="2171402"/>
            <a:ext cx="4103191" cy="2203028"/>
          </a:xfrm>
          <a:prstGeom prst="roundRect">
            <a:avLst>
              <a:gd name="adj" fmla="val 845"/>
            </a:avLst>
          </a:prstGeom>
          <a:solidFill>
            <a:srgbClr val="403CCF"/>
          </a:solidFill>
          <a:ln/>
        </p:spPr>
        <p:txBody>
          <a:bodyPr/>
          <a:lstStyle/>
          <a:p>
            <a:endParaRPr lang="tr-TR"/>
          </a:p>
        </p:txBody>
      </p:sp>
      <p:sp>
        <p:nvSpPr>
          <p:cNvPr id="7" name="Text 5"/>
          <p:cNvSpPr/>
          <p:nvPr/>
        </p:nvSpPr>
        <p:spPr>
          <a:xfrm>
            <a:off x="530796" y="2295376"/>
            <a:ext cx="2376785"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ibre Baskerville" pitchFamily="34" charset="0"/>
                <a:ea typeface="Libre Baskerville" pitchFamily="34" charset="-122"/>
                <a:cs typeface="Libre Baskerville" pitchFamily="34" charset="-120"/>
              </a:rPr>
              <a:t>Key Preprocessing Steps</a:t>
            </a:r>
            <a:endParaRPr lang="en-US" sz="1200" dirty="0"/>
          </a:p>
        </p:txBody>
      </p:sp>
      <p:sp>
        <p:nvSpPr>
          <p:cNvPr id="8" name="Text 6"/>
          <p:cNvSpPr/>
          <p:nvPr/>
        </p:nvSpPr>
        <p:spPr>
          <a:xfrm>
            <a:off x="530796" y="2613199"/>
            <a:ext cx="3855244" cy="1717849"/>
          </a:xfrm>
          <a:prstGeom prst="rect">
            <a:avLst/>
          </a:prstGeom>
          <a:noFill/>
          <a:ln/>
        </p:spPr>
        <p:txBody>
          <a:bodyPr wrap="square" lIns="0" tIns="0" rIns="0" bIns="0" rtlCol="0" anchor="t">
            <a:normAutofit/>
          </a:bodyPr>
          <a:lstStyle/>
          <a:p>
            <a:pPr marL="228600" indent="-228600" algn="l">
              <a:lnSpc>
                <a:spcPct val="133000"/>
              </a:lnSpc>
              <a:buSzPct val="100000"/>
              <a:buFont typeface="+mj-lt"/>
              <a:buAutoNum type="arabicPeriod"/>
            </a:pPr>
            <a:r>
              <a:rPr lang="en-US" sz="950" b="1" dirty="0">
                <a:solidFill>
                  <a:srgbClr val="FFFFFF"/>
                </a:solidFill>
                <a:latin typeface="Open Sans" pitchFamily="34" charset="0"/>
                <a:ea typeface="Open Sans" pitchFamily="34" charset="-122"/>
                <a:cs typeface="Open Sans" pitchFamily="34" charset="-120"/>
              </a:rPr>
              <a:t>Feature Selection:</a:t>
            </a:r>
            <a:r>
              <a:rPr lang="en-US" sz="950" dirty="0">
                <a:solidFill>
                  <a:srgbClr val="FFFFFF"/>
                </a:solidFill>
                <a:latin typeface="Open Sans" pitchFamily="34" charset="0"/>
                <a:ea typeface="Open Sans" pitchFamily="34" charset="-122"/>
                <a:cs typeface="Open Sans" pitchFamily="34" charset="-120"/>
              </a:rPr>
              <a:t> Removed irrelevant columns; retained Year, Country, Damages, and Deaths</a:t>
            </a:r>
            <a:endParaRPr lang="en-US" sz="950" dirty="0"/>
          </a:p>
          <a:p>
            <a:pPr marL="228600" indent="-228600" algn="l">
              <a:lnSpc>
                <a:spcPct val="133000"/>
              </a:lnSpc>
              <a:buSzPct val="100000"/>
              <a:buFont typeface="+mj-lt"/>
              <a:buAutoNum type="arabicPeriod"/>
            </a:pPr>
            <a:r>
              <a:rPr lang="en-US" sz="950" b="1" dirty="0">
                <a:solidFill>
                  <a:srgbClr val="FFFFFF"/>
                </a:solidFill>
                <a:latin typeface="Open Sans" pitchFamily="34" charset="0"/>
                <a:ea typeface="Open Sans" pitchFamily="34" charset="-122"/>
                <a:cs typeface="Open Sans" pitchFamily="34" charset="-120"/>
              </a:rPr>
              <a:t>Missing Values:</a:t>
            </a:r>
            <a:r>
              <a:rPr lang="en-US" sz="950" dirty="0">
                <a:solidFill>
                  <a:srgbClr val="FFFFFF"/>
                </a:solidFill>
                <a:latin typeface="Open Sans" pitchFamily="34" charset="0"/>
                <a:ea typeface="Open Sans" pitchFamily="34" charset="-122"/>
                <a:cs typeface="Open Sans" pitchFamily="34" charset="-120"/>
              </a:rPr>
              <a:t> Filtered out rows with </a:t>
            </a:r>
            <a:r>
              <a:rPr lang="en-US" sz="950" dirty="0">
                <a:solidFill>
                  <a:srgbClr val="FFFFFF"/>
                </a:solidFill>
                <a:highlight>
                  <a:srgbClr val="4D49DC"/>
                </a:highlight>
                <a:latin typeface="Consolas" pitchFamily="34" charset="0"/>
                <a:ea typeface="Consolas" pitchFamily="34" charset="-122"/>
                <a:cs typeface="Consolas" pitchFamily="34" charset="-120"/>
              </a:rPr>
              <a:t>NA</a:t>
            </a:r>
            <a:r>
              <a:rPr lang="en-US" sz="950" dirty="0">
                <a:solidFill>
                  <a:srgbClr val="FFFFFF"/>
                </a:solidFill>
                <a:latin typeface="Open Sans" pitchFamily="34" charset="0"/>
                <a:ea typeface="Open Sans" pitchFamily="34" charset="-122"/>
                <a:cs typeface="Open Sans" pitchFamily="34" charset="-120"/>
              </a:rPr>
              <a:t> damage values for accurate economic analysis</a:t>
            </a:r>
            <a:endParaRPr lang="en-US" sz="950" dirty="0"/>
          </a:p>
          <a:p>
            <a:pPr marL="228600" indent="-228600" algn="l">
              <a:lnSpc>
                <a:spcPct val="133000"/>
              </a:lnSpc>
              <a:buSzPct val="100000"/>
              <a:buFont typeface="+mj-lt"/>
              <a:buAutoNum type="arabicPeriod"/>
            </a:pPr>
            <a:r>
              <a:rPr lang="en-US" sz="950" b="1" dirty="0">
                <a:solidFill>
                  <a:srgbClr val="FFFFFF"/>
                </a:solidFill>
                <a:latin typeface="Open Sans" pitchFamily="34" charset="0"/>
                <a:ea typeface="Open Sans" pitchFamily="34" charset="-122"/>
                <a:cs typeface="Open Sans" pitchFamily="34" charset="-120"/>
              </a:rPr>
              <a:t>Disaster Filtering:</a:t>
            </a:r>
            <a:r>
              <a:rPr lang="en-US" sz="950" dirty="0">
                <a:solidFill>
                  <a:srgbClr val="FFFFFF"/>
                </a:solidFill>
                <a:latin typeface="Open Sans" pitchFamily="34" charset="0"/>
                <a:ea typeface="Open Sans" pitchFamily="34" charset="-122"/>
                <a:cs typeface="Open Sans" pitchFamily="34" charset="-120"/>
              </a:rPr>
              <a:t> Limited dataset to the top 6 most destructive event types</a:t>
            </a:r>
            <a:endParaRPr lang="en-US" sz="950" dirty="0"/>
          </a:p>
          <a:p>
            <a:pPr marL="228600" indent="-228600" algn="l">
              <a:lnSpc>
                <a:spcPct val="133000"/>
              </a:lnSpc>
              <a:buSzPct val="100000"/>
              <a:buFont typeface="+mj-lt"/>
              <a:buAutoNum type="arabicPeriod"/>
            </a:pPr>
            <a:r>
              <a:rPr lang="en-US" sz="950" b="1" dirty="0">
                <a:solidFill>
                  <a:srgbClr val="FFFFFF"/>
                </a:solidFill>
                <a:latin typeface="Open Sans" pitchFamily="34" charset="0"/>
                <a:ea typeface="Open Sans" pitchFamily="34" charset="-122"/>
                <a:cs typeface="Open Sans" pitchFamily="34" charset="-120"/>
              </a:rPr>
              <a:t>Deduplication:</a:t>
            </a:r>
            <a:r>
              <a:rPr lang="en-US" sz="950" dirty="0">
                <a:solidFill>
                  <a:srgbClr val="FFFFFF"/>
                </a:solidFill>
                <a:latin typeface="Open Sans" pitchFamily="34" charset="0"/>
                <a:ea typeface="Open Sans" pitchFamily="34" charset="-122"/>
                <a:cs typeface="Open Sans" pitchFamily="34" charset="-120"/>
              </a:rPr>
              <a:t> Applied </a:t>
            </a:r>
            <a:r>
              <a:rPr lang="en-US" sz="950" dirty="0">
                <a:solidFill>
                  <a:srgbClr val="FFFFFF"/>
                </a:solidFill>
                <a:highlight>
                  <a:srgbClr val="4D49DC"/>
                </a:highlight>
                <a:latin typeface="Consolas" pitchFamily="34" charset="0"/>
                <a:ea typeface="Consolas" pitchFamily="34" charset="-122"/>
                <a:cs typeface="Consolas" pitchFamily="34" charset="-120"/>
              </a:rPr>
              <a:t>distinct()</a:t>
            </a:r>
            <a:r>
              <a:rPr lang="en-US" sz="950" dirty="0">
                <a:solidFill>
                  <a:srgbClr val="FFFFFF"/>
                </a:solidFill>
                <a:latin typeface="Open Sans" pitchFamily="34" charset="0"/>
                <a:ea typeface="Open Sans" pitchFamily="34" charset="-122"/>
                <a:cs typeface="Open Sans" pitchFamily="34" charset="-120"/>
              </a:rPr>
              <a:t> to remove duplicate rows from complex API joins</a:t>
            </a:r>
            <a:endParaRPr lang="en-US" sz="950" dirty="0"/>
          </a:p>
        </p:txBody>
      </p:sp>
      <p:sp>
        <p:nvSpPr>
          <p:cNvPr id="9" name="Text 7"/>
          <p:cNvSpPr/>
          <p:nvPr/>
        </p:nvSpPr>
        <p:spPr>
          <a:xfrm>
            <a:off x="4728046" y="2295376"/>
            <a:ext cx="2871118" cy="193849"/>
          </a:xfrm>
          <a:prstGeom prst="rect">
            <a:avLst/>
          </a:prstGeom>
          <a:noFill/>
          <a:ln/>
        </p:spPr>
        <p:txBody>
          <a:bodyPr wrap="none" lIns="0" tIns="0" rIns="0" bIns="0" rtlCol="0" anchor="t"/>
          <a:lstStyle/>
          <a:p>
            <a:pPr marL="0" indent="0" algn="l">
              <a:lnSpc>
                <a:spcPct val="104000"/>
              </a:lnSpc>
              <a:buNone/>
            </a:pPr>
            <a:r>
              <a:rPr lang="en-US" sz="1200" dirty="0">
                <a:solidFill>
                  <a:srgbClr val="403CCF"/>
                </a:solidFill>
                <a:latin typeface="Libre Baskerville" pitchFamily="34" charset="0"/>
                <a:ea typeface="Libre Baskerville" pitchFamily="34" charset="-122"/>
                <a:cs typeface="Libre Baskerville" pitchFamily="34" charset="-120"/>
              </a:rPr>
              <a:t>Top 6 Disaster Types Analysed</a:t>
            </a:r>
            <a:endParaRPr lang="en-US" sz="1200" dirty="0"/>
          </a:p>
        </p:txBody>
      </p:sp>
      <p:sp>
        <p:nvSpPr>
          <p:cNvPr id="10" name="Shape 8"/>
          <p:cNvSpPr/>
          <p:nvPr/>
        </p:nvSpPr>
        <p:spPr>
          <a:xfrm>
            <a:off x="4728046" y="2628751"/>
            <a:ext cx="1900312" cy="441796"/>
          </a:xfrm>
          <a:prstGeom prst="roundRect">
            <a:avLst>
              <a:gd name="adj" fmla="val 4212"/>
            </a:avLst>
          </a:prstGeom>
          <a:solidFill>
            <a:srgbClr val="EAE8F3"/>
          </a:solidFill>
          <a:ln/>
        </p:spPr>
        <p:txBody>
          <a:bodyPr/>
          <a:lstStyle/>
          <a:p>
            <a:endParaRPr lang="tr-TR"/>
          </a:p>
        </p:txBody>
      </p:sp>
      <p:sp>
        <p:nvSpPr>
          <p:cNvPr id="11" name="Text 9"/>
          <p:cNvSpPr/>
          <p:nvPr/>
        </p:nvSpPr>
        <p:spPr>
          <a:xfrm>
            <a:off x="4852020" y="275272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Storm</a:t>
            </a:r>
            <a:endParaRPr lang="en-US" sz="1200" dirty="0"/>
          </a:p>
        </p:txBody>
      </p:sp>
      <p:sp>
        <p:nvSpPr>
          <p:cNvPr id="12" name="Shape 10"/>
          <p:cNvSpPr/>
          <p:nvPr/>
        </p:nvSpPr>
        <p:spPr>
          <a:xfrm>
            <a:off x="6752332" y="2628751"/>
            <a:ext cx="1900312" cy="441796"/>
          </a:xfrm>
          <a:prstGeom prst="roundRect">
            <a:avLst>
              <a:gd name="adj" fmla="val 4212"/>
            </a:avLst>
          </a:prstGeom>
          <a:solidFill>
            <a:srgbClr val="EAE8F3"/>
          </a:solidFill>
          <a:ln/>
        </p:spPr>
        <p:txBody>
          <a:bodyPr/>
          <a:lstStyle/>
          <a:p>
            <a:endParaRPr lang="tr-TR"/>
          </a:p>
        </p:txBody>
      </p:sp>
      <p:sp>
        <p:nvSpPr>
          <p:cNvPr id="13" name="Text 11"/>
          <p:cNvSpPr/>
          <p:nvPr/>
        </p:nvSpPr>
        <p:spPr>
          <a:xfrm>
            <a:off x="6876306" y="275272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Flood</a:t>
            </a:r>
            <a:endParaRPr lang="en-US" sz="1200" dirty="0"/>
          </a:p>
        </p:txBody>
      </p:sp>
      <p:sp>
        <p:nvSpPr>
          <p:cNvPr id="14" name="Shape 12"/>
          <p:cNvSpPr/>
          <p:nvPr/>
        </p:nvSpPr>
        <p:spPr>
          <a:xfrm>
            <a:off x="4728046" y="3194521"/>
            <a:ext cx="1900312" cy="441796"/>
          </a:xfrm>
          <a:prstGeom prst="roundRect">
            <a:avLst>
              <a:gd name="adj" fmla="val 4212"/>
            </a:avLst>
          </a:prstGeom>
          <a:solidFill>
            <a:srgbClr val="EAE8F3"/>
          </a:solidFill>
          <a:ln/>
        </p:spPr>
        <p:txBody>
          <a:bodyPr/>
          <a:lstStyle/>
          <a:p>
            <a:endParaRPr lang="tr-TR"/>
          </a:p>
        </p:txBody>
      </p:sp>
      <p:sp>
        <p:nvSpPr>
          <p:cNvPr id="15" name="Text 13"/>
          <p:cNvSpPr/>
          <p:nvPr/>
        </p:nvSpPr>
        <p:spPr>
          <a:xfrm>
            <a:off x="4852020" y="331849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Earthquake</a:t>
            </a:r>
            <a:endParaRPr lang="en-US" sz="1200" dirty="0"/>
          </a:p>
        </p:txBody>
      </p:sp>
      <p:sp>
        <p:nvSpPr>
          <p:cNvPr id="16" name="Shape 14"/>
          <p:cNvSpPr/>
          <p:nvPr/>
        </p:nvSpPr>
        <p:spPr>
          <a:xfrm>
            <a:off x="6752332" y="3194521"/>
            <a:ext cx="1900312" cy="441796"/>
          </a:xfrm>
          <a:prstGeom prst="roundRect">
            <a:avLst>
              <a:gd name="adj" fmla="val 4212"/>
            </a:avLst>
          </a:prstGeom>
          <a:solidFill>
            <a:srgbClr val="EAE8F3"/>
          </a:solidFill>
          <a:ln/>
        </p:spPr>
        <p:txBody>
          <a:bodyPr/>
          <a:lstStyle/>
          <a:p>
            <a:endParaRPr lang="tr-TR"/>
          </a:p>
        </p:txBody>
      </p:sp>
      <p:sp>
        <p:nvSpPr>
          <p:cNvPr id="17" name="Text 15"/>
          <p:cNvSpPr/>
          <p:nvPr/>
        </p:nvSpPr>
        <p:spPr>
          <a:xfrm>
            <a:off x="6876306" y="331849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Drought</a:t>
            </a:r>
            <a:endParaRPr lang="en-US" sz="1200" dirty="0"/>
          </a:p>
        </p:txBody>
      </p:sp>
      <p:sp>
        <p:nvSpPr>
          <p:cNvPr id="18" name="Shape 16"/>
          <p:cNvSpPr/>
          <p:nvPr/>
        </p:nvSpPr>
        <p:spPr>
          <a:xfrm>
            <a:off x="4728046" y="3760291"/>
            <a:ext cx="1900312" cy="441796"/>
          </a:xfrm>
          <a:prstGeom prst="roundRect">
            <a:avLst>
              <a:gd name="adj" fmla="val 4212"/>
            </a:avLst>
          </a:prstGeom>
          <a:solidFill>
            <a:srgbClr val="EAE8F3"/>
          </a:solidFill>
          <a:ln/>
        </p:spPr>
        <p:txBody>
          <a:bodyPr/>
          <a:lstStyle/>
          <a:p>
            <a:endParaRPr lang="tr-TR"/>
          </a:p>
        </p:txBody>
      </p:sp>
      <p:sp>
        <p:nvSpPr>
          <p:cNvPr id="19" name="Text 17"/>
          <p:cNvSpPr/>
          <p:nvPr/>
        </p:nvSpPr>
        <p:spPr>
          <a:xfrm>
            <a:off x="4852020" y="388426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Wildfire</a:t>
            </a:r>
            <a:endParaRPr lang="en-US" sz="1200" dirty="0"/>
          </a:p>
        </p:txBody>
      </p:sp>
      <p:sp>
        <p:nvSpPr>
          <p:cNvPr id="20" name="Shape 18"/>
          <p:cNvSpPr/>
          <p:nvPr/>
        </p:nvSpPr>
        <p:spPr>
          <a:xfrm>
            <a:off x="6752332" y="3760291"/>
            <a:ext cx="1900312" cy="441796"/>
          </a:xfrm>
          <a:prstGeom prst="roundRect">
            <a:avLst>
              <a:gd name="adj" fmla="val 4212"/>
            </a:avLst>
          </a:prstGeom>
          <a:solidFill>
            <a:srgbClr val="EAE8F3"/>
          </a:solidFill>
          <a:ln/>
        </p:spPr>
        <p:txBody>
          <a:bodyPr/>
          <a:lstStyle/>
          <a:p>
            <a:endParaRPr lang="tr-TR"/>
          </a:p>
        </p:txBody>
      </p:sp>
      <p:sp>
        <p:nvSpPr>
          <p:cNvPr id="21" name="Text 19"/>
          <p:cNvSpPr/>
          <p:nvPr/>
        </p:nvSpPr>
        <p:spPr>
          <a:xfrm>
            <a:off x="6876306" y="388426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9495A"/>
                </a:solidFill>
                <a:latin typeface="Libre Baskerville" pitchFamily="34" charset="0"/>
                <a:ea typeface="Libre Baskerville" pitchFamily="34" charset="-122"/>
                <a:cs typeface="Libre Baskerville" pitchFamily="34" charset="-120"/>
              </a:rPr>
              <a:t> Landslide</a:t>
            </a:r>
            <a:endParaRPr lang="en-US" sz="1200" dirty="0"/>
          </a:p>
        </p:txBody>
      </p:sp>
      <p:pic>
        <p:nvPicPr>
          <p:cNvPr id="23" name="Picture 22">
            <a:extLst>
              <a:ext uri="{FF2B5EF4-FFF2-40B4-BE49-F238E27FC236}">
                <a16:creationId xmlns:a16="http://schemas.microsoft.com/office/drawing/2014/main" id="{F59C1C6F-2F94-CB32-1306-BB78F965DEBA}"/>
              </a:ext>
            </a:extLst>
          </p:cNvPr>
          <p:cNvPicPr>
            <a:picLocks noChangeAspect="1"/>
          </p:cNvPicPr>
          <p:nvPr/>
        </p:nvPicPr>
        <p:blipFill>
          <a:blip r:embed="rId3"/>
          <a:stretch>
            <a:fillRect/>
          </a:stretch>
        </p:blipFill>
        <p:spPr>
          <a:xfrm>
            <a:off x="6943418" y="4736377"/>
            <a:ext cx="2200582" cy="3524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550143"/>
            <a:ext cx="903759" cy="233214"/>
          </a:xfrm>
          <a:prstGeom prst="roundRect">
            <a:avLst>
              <a:gd name="adj" fmla="val 6383"/>
            </a:avLst>
          </a:prstGeom>
          <a:solidFill>
            <a:srgbClr val="D7D6F5"/>
          </a:solidFill>
          <a:ln/>
        </p:spPr>
        <p:txBody>
          <a:bodyPr/>
          <a:lstStyle/>
          <a:p>
            <a:endParaRPr lang="tr-TR"/>
          </a:p>
        </p:txBody>
      </p:sp>
      <p:sp>
        <p:nvSpPr>
          <p:cNvPr id="3" name="Text 1"/>
          <p:cNvSpPr/>
          <p:nvPr/>
        </p:nvSpPr>
        <p:spPr>
          <a:xfrm>
            <a:off x="570533" y="587350"/>
            <a:ext cx="1212131" cy="158800"/>
          </a:xfrm>
          <a:prstGeom prst="rect">
            <a:avLst/>
          </a:prstGeom>
          <a:noFill/>
          <a:ln/>
        </p:spPr>
        <p:txBody>
          <a:bodyPr wrap="none" lIns="0" tIns="0" rIns="0" bIns="0" rtlCol="0" anchor="t"/>
          <a:lstStyle/>
          <a:p>
            <a:pPr marL="0" indent="0" algn="l">
              <a:lnSpc>
                <a:spcPct val="133000"/>
              </a:lnSpc>
              <a:buNone/>
            </a:pPr>
            <a:r>
              <a:rPr lang="en-US" sz="750" dirty="0">
                <a:solidFill>
                  <a:srgbClr val="49495A"/>
                </a:solidFill>
                <a:latin typeface="Open Sans" pitchFamily="34" charset="0"/>
                <a:ea typeface="Open Sans" pitchFamily="34" charset="-122"/>
                <a:cs typeface="Open Sans" pitchFamily="34" charset="-120"/>
              </a:rPr>
              <a:t>METHODOLOGY</a:t>
            </a:r>
            <a:endParaRPr lang="en-US" sz="750" dirty="0"/>
          </a:p>
        </p:txBody>
      </p:sp>
      <p:sp>
        <p:nvSpPr>
          <p:cNvPr id="4" name="Text 2"/>
          <p:cNvSpPr/>
          <p:nvPr/>
        </p:nvSpPr>
        <p:spPr>
          <a:xfrm>
            <a:off x="496119" y="913552"/>
            <a:ext cx="7036594"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Inflation Adjustment &amp; GDP Normalization</a:t>
            </a:r>
          </a:p>
        </p:txBody>
      </p:sp>
      <p:sp>
        <p:nvSpPr>
          <p:cNvPr id="5" name="Text 3"/>
          <p:cNvSpPr/>
          <p:nvPr/>
        </p:nvSpPr>
        <p:spPr>
          <a:xfrm>
            <a:off x="496118" y="1371127"/>
            <a:ext cx="8151763" cy="396925"/>
          </a:xfrm>
          <a:prstGeom prst="rect">
            <a:avLst/>
          </a:prstGeom>
          <a:noFill/>
          <a:ln/>
        </p:spPr>
        <p:txBody>
          <a:bodyPr wrap="square" lIns="0" tIns="0" rIns="0" bIns="0" rtlCol="0" anchor="t">
            <a:normAutofit/>
          </a:bodyPr>
          <a:lstStyle/>
          <a:p>
            <a:pPr>
              <a:lnSpc>
                <a:spcPct val="133000"/>
              </a:lnSpc>
            </a:pPr>
            <a:r>
              <a:rPr lang="en-US" sz="950" dirty="0">
                <a:solidFill>
                  <a:srgbClr val="49495A"/>
                </a:solidFill>
                <a:latin typeface="Open Sans" pitchFamily="34" charset="0"/>
                <a:ea typeface="Open Sans" pitchFamily="34" charset="-122"/>
                <a:cs typeface="Open Sans" pitchFamily="34" charset="-120"/>
              </a:rPr>
              <a:t>Raw economic loss figures cannot be compared across decades without accounting for inflation and differences in national economic scale. Two normalization methods were applied to ensure fair, meaningful comparisons.</a:t>
            </a:r>
          </a:p>
        </p:txBody>
      </p:sp>
      <p:sp>
        <p:nvSpPr>
          <p:cNvPr id="7" name="Text 4"/>
          <p:cNvSpPr/>
          <p:nvPr/>
        </p:nvSpPr>
        <p:spPr>
          <a:xfrm>
            <a:off x="496119" y="2315641"/>
            <a:ext cx="2448297"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CPI Adjustment (Constant 2021 USD)</a:t>
            </a:r>
          </a:p>
        </p:txBody>
      </p:sp>
      <p:sp>
        <p:nvSpPr>
          <p:cNvPr id="8" name="Text 5"/>
          <p:cNvSpPr/>
          <p:nvPr/>
        </p:nvSpPr>
        <p:spPr>
          <a:xfrm>
            <a:off x="496119" y="2583903"/>
            <a:ext cx="3998342" cy="793849"/>
          </a:xfrm>
          <a:prstGeom prst="rect">
            <a:avLst/>
          </a:prstGeom>
          <a:noFill/>
          <a:ln/>
        </p:spPr>
        <p:txBody>
          <a:bodyPr wrap="square" lIns="0" tIns="0" rIns="0" bIns="0" rtlCol="0" anchor="t">
            <a:normAutofit/>
          </a:bodyPr>
          <a:lstStyle/>
          <a:p>
            <a:pPr algn="just">
              <a:lnSpc>
                <a:spcPct val="133000"/>
              </a:lnSpc>
            </a:pPr>
            <a:r>
              <a:rPr lang="en-US" sz="950" dirty="0">
                <a:solidFill>
                  <a:srgbClr val="49495A"/>
                </a:solidFill>
                <a:latin typeface="Open Sans" pitchFamily="34" charset="0"/>
                <a:ea typeface="Open Sans" pitchFamily="34" charset="-122"/>
                <a:cs typeface="Open Sans" pitchFamily="34" charset="-120"/>
              </a:rPr>
              <a:t>All nominal damage values were converted into </a:t>
            </a:r>
            <a:r>
              <a:rPr lang="en-US" sz="950" b="1" dirty="0">
                <a:solidFill>
                  <a:srgbClr val="49495A"/>
                </a:solidFill>
                <a:latin typeface="Open Sans" pitchFamily="34" charset="0"/>
                <a:ea typeface="Open Sans" pitchFamily="34" charset="-122"/>
                <a:cs typeface="Open Sans" pitchFamily="34" charset="-120"/>
              </a:rPr>
              <a:t>Constant 2021 USD</a:t>
            </a:r>
            <a:r>
              <a:rPr lang="en-US" sz="950" dirty="0">
                <a:solidFill>
                  <a:srgbClr val="49495A"/>
                </a:solidFill>
                <a:latin typeface="Open Sans" pitchFamily="34" charset="0"/>
                <a:ea typeface="Open Sans" pitchFamily="34" charset="-122"/>
                <a:cs typeface="Open Sans" pitchFamily="34" charset="-120"/>
              </a:rPr>
              <a:t> using Consumer Price Index data (</a:t>
            </a:r>
            <a:r>
              <a:rPr lang="en-US" sz="1000" dirty="0"/>
              <a:t>World Bank) </a:t>
            </a:r>
            <a:r>
              <a:rPr lang="en-US" sz="950" dirty="0">
                <a:solidFill>
                  <a:srgbClr val="49495A"/>
                </a:solidFill>
                <a:latin typeface="Open Sans" pitchFamily="34" charset="0"/>
                <a:ea typeface="Open Sans" pitchFamily="34" charset="-122"/>
                <a:cs typeface="Open Sans" pitchFamily="34" charset="-120"/>
              </a:rPr>
              <a:t>. This removes inflation bias, ensuring a $1 billion loss in 1950 is comparable to a $1 billion loss in 2020.</a:t>
            </a:r>
            <a:endParaRPr lang="en-US" sz="950" dirty="0"/>
          </a:p>
        </p:txBody>
      </p:sp>
      <p:sp>
        <p:nvSpPr>
          <p:cNvPr id="10" name="Text 6"/>
          <p:cNvSpPr/>
          <p:nvPr/>
        </p:nvSpPr>
        <p:spPr>
          <a:xfrm>
            <a:off x="4740905" y="2287258"/>
            <a:ext cx="2015058" cy="193849"/>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Libre Baskerville" pitchFamily="34" charset="0"/>
                <a:ea typeface="Libre Baskerville" pitchFamily="34" charset="-122"/>
                <a:cs typeface="Libre Baskerville" pitchFamily="34" charset="-120"/>
              </a:rPr>
              <a:t>GDP Normalisation</a:t>
            </a:r>
            <a:endParaRPr lang="en-US" sz="1200" dirty="0"/>
          </a:p>
        </p:txBody>
      </p:sp>
      <p:sp>
        <p:nvSpPr>
          <p:cNvPr id="11" name="Text 7"/>
          <p:cNvSpPr/>
          <p:nvPr/>
        </p:nvSpPr>
        <p:spPr>
          <a:xfrm>
            <a:off x="4740905" y="2521886"/>
            <a:ext cx="3998416"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9495A"/>
                </a:solidFill>
                <a:latin typeface="Open Sans" pitchFamily="34" charset="0"/>
                <a:ea typeface="Open Sans" pitchFamily="34" charset="-122"/>
                <a:cs typeface="Open Sans" pitchFamily="34" charset="-120"/>
              </a:rPr>
              <a:t>Damage was expressed as a </a:t>
            </a:r>
            <a:r>
              <a:rPr lang="en-US" sz="950" b="1" dirty="0">
                <a:solidFill>
                  <a:srgbClr val="49495A"/>
                </a:solidFill>
                <a:latin typeface="Open Sans" pitchFamily="34" charset="0"/>
                <a:ea typeface="Open Sans" pitchFamily="34" charset="-122"/>
                <a:cs typeface="Open Sans" pitchFamily="34" charset="-120"/>
              </a:rPr>
              <a:t>percentage of national GDP</a:t>
            </a:r>
            <a:r>
              <a:rPr lang="en-US" sz="950" dirty="0">
                <a:solidFill>
                  <a:srgbClr val="49495A"/>
                </a:solidFill>
                <a:latin typeface="Open Sans" pitchFamily="34" charset="0"/>
                <a:ea typeface="Open Sans" pitchFamily="34" charset="-122"/>
                <a:cs typeface="Open Sans" pitchFamily="34" charset="-120"/>
              </a:rPr>
              <a:t>, revealing the true economic burden on each country. A $10 billion loss affects a low-income nation far more severely than a high-income one — this metric captures that disparity.</a:t>
            </a:r>
            <a:endParaRPr lang="en-US" sz="950" dirty="0"/>
          </a:p>
        </p:txBody>
      </p:sp>
      <p:sp>
        <p:nvSpPr>
          <p:cNvPr id="19" name="Shape 4">
            <a:extLst>
              <a:ext uri="{FF2B5EF4-FFF2-40B4-BE49-F238E27FC236}">
                <a16:creationId xmlns:a16="http://schemas.microsoft.com/office/drawing/2014/main" id="{6CDCDD4E-E0E6-72AE-FFF2-83649B35C039}"/>
              </a:ext>
            </a:extLst>
          </p:cNvPr>
          <p:cNvSpPr/>
          <p:nvPr/>
        </p:nvSpPr>
        <p:spPr>
          <a:xfrm>
            <a:off x="348598" y="3864123"/>
            <a:ext cx="8685674" cy="336021"/>
          </a:xfrm>
          <a:prstGeom prst="roundRect">
            <a:avLst>
              <a:gd name="adj" fmla="val 845"/>
            </a:avLst>
          </a:prstGeom>
          <a:solidFill>
            <a:srgbClr val="403CCF"/>
          </a:solidFill>
          <a:ln/>
        </p:spPr>
        <p:txBody>
          <a:bodyPr/>
          <a:lstStyle/>
          <a:p>
            <a:pPr>
              <a:lnSpc>
                <a:spcPct val="133000"/>
              </a:lnSpc>
            </a:pPr>
            <a:r>
              <a:rPr lang="en-US" sz="1000" b="1" dirty="0">
                <a:solidFill>
                  <a:schemeClr val="bg1"/>
                </a:solidFill>
                <a:latin typeface="DM Sans" pitchFamily="34" charset="0"/>
                <a:ea typeface="DM Sans" pitchFamily="34" charset="-122"/>
                <a:cs typeface="DM Sans" pitchFamily="34" charset="-120"/>
              </a:rPr>
              <a:t>Damage % GDP = (Economic Damage ÷ GDP) × 100</a:t>
            </a:r>
            <a:endParaRPr lang="en-US" sz="1000" dirty="0">
              <a:solidFill>
                <a:schemeClr val="bg1"/>
              </a:solidFill>
            </a:endParaRPr>
          </a:p>
        </p:txBody>
      </p:sp>
      <p:pic>
        <p:nvPicPr>
          <p:cNvPr id="21" name="Picture 20">
            <a:extLst>
              <a:ext uri="{FF2B5EF4-FFF2-40B4-BE49-F238E27FC236}">
                <a16:creationId xmlns:a16="http://schemas.microsoft.com/office/drawing/2014/main" id="{D1E6F89B-7198-08AE-1523-A6DFE5686990}"/>
              </a:ext>
            </a:extLst>
          </p:cNvPr>
          <p:cNvPicPr>
            <a:picLocks noChangeAspect="1"/>
          </p:cNvPicPr>
          <p:nvPr/>
        </p:nvPicPr>
        <p:blipFill>
          <a:blip r:embed="rId3"/>
          <a:stretch>
            <a:fillRect/>
          </a:stretch>
        </p:blipFill>
        <p:spPr>
          <a:xfrm>
            <a:off x="6943418" y="4759745"/>
            <a:ext cx="2200582" cy="3524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6559-470C-FB9C-8D31-22C586D0CC9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01C1F48-E102-BA87-BA55-C191D53117DB}"/>
              </a:ext>
            </a:extLst>
          </p:cNvPr>
          <p:cNvSpPr/>
          <p:nvPr/>
        </p:nvSpPr>
        <p:spPr>
          <a:xfrm>
            <a:off x="496117" y="433305"/>
            <a:ext cx="7036594"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Who Really Pays the Price? </a:t>
            </a:r>
            <a:endParaRPr lang="en-US" sz="2400" dirty="0"/>
          </a:p>
        </p:txBody>
      </p:sp>
      <p:sp>
        <p:nvSpPr>
          <p:cNvPr id="5" name="Text 3">
            <a:extLst>
              <a:ext uri="{FF2B5EF4-FFF2-40B4-BE49-F238E27FC236}">
                <a16:creationId xmlns:a16="http://schemas.microsoft.com/office/drawing/2014/main" id="{0FDF8533-E89D-CC97-1597-FA077AA4FA66}"/>
              </a:ext>
            </a:extLst>
          </p:cNvPr>
          <p:cNvSpPr/>
          <p:nvPr/>
        </p:nvSpPr>
        <p:spPr>
          <a:xfrm>
            <a:off x="565397" y="1036279"/>
            <a:ext cx="5134363" cy="396925"/>
          </a:xfrm>
          <a:prstGeom prst="rect">
            <a:avLst/>
          </a:prstGeom>
          <a:noFill/>
          <a:ln/>
        </p:spPr>
        <p:txBody>
          <a:bodyPr wrap="square" lIns="0" tIns="0" rIns="0" bIns="0" rtlCol="0" anchor="t">
            <a:noAutofit/>
          </a:bodyPr>
          <a:lstStyle/>
          <a:p>
            <a:pPr marL="0" indent="0" algn="just">
              <a:lnSpc>
                <a:spcPct val="133000"/>
              </a:lnSpc>
              <a:buNone/>
            </a:pPr>
            <a:r>
              <a:rPr lang="en-US" sz="1050" b="1" dirty="0">
                <a:solidFill>
                  <a:srgbClr val="49495A"/>
                </a:solidFill>
                <a:latin typeface="Open Sans" pitchFamily="34" charset="0"/>
                <a:ea typeface="Open Sans" pitchFamily="34" charset="-122"/>
                <a:cs typeface="Open Sans" pitchFamily="34" charset="-120"/>
              </a:rPr>
              <a:t>RQ1-</a:t>
            </a:r>
            <a:r>
              <a:rPr lang="en-US" sz="1050" dirty="0">
                <a:solidFill>
                  <a:srgbClr val="49495A"/>
                </a:solidFill>
                <a:latin typeface="Open Sans" pitchFamily="34" charset="0"/>
                <a:ea typeface="Open Sans" pitchFamily="34" charset="-122"/>
                <a:cs typeface="Open Sans" pitchFamily="34" charset="-120"/>
              </a:rPr>
              <a:t> How does economic damage relate to a country's income level?</a:t>
            </a:r>
            <a:endParaRPr lang="en-US" sz="1050" dirty="0"/>
          </a:p>
        </p:txBody>
      </p:sp>
      <p:pic>
        <p:nvPicPr>
          <p:cNvPr id="13" name="Picture 12">
            <a:extLst>
              <a:ext uri="{FF2B5EF4-FFF2-40B4-BE49-F238E27FC236}">
                <a16:creationId xmlns:a16="http://schemas.microsoft.com/office/drawing/2014/main" id="{08B2C97E-AC91-9493-A218-AE1C781EED4B}"/>
              </a:ext>
            </a:extLst>
          </p:cNvPr>
          <p:cNvPicPr>
            <a:picLocks noChangeAspect="1"/>
          </p:cNvPicPr>
          <p:nvPr/>
        </p:nvPicPr>
        <p:blipFill>
          <a:blip r:embed="rId3"/>
          <a:stretch>
            <a:fillRect/>
          </a:stretch>
        </p:blipFill>
        <p:spPr>
          <a:xfrm>
            <a:off x="496117" y="1534675"/>
            <a:ext cx="4012381" cy="2214107"/>
          </a:xfrm>
          <a:prstGeom prst="rect">
            <a:avLst/>
          </a:prstGeom>
        </p:spPr>
      </p:pic>
      <p:pic>
        <p:nvPicPr>
          <p:cNvPr id="17" name="Picture 16">
            <a:extLst>
              <a:ext uri="{FF2B5EF4-FFF2-40B4-BE49-F238E27FC236}">
                <a16:creationId xmlns:a16="http://schemas.microsoft.com/office/drawing/2014/main" id="{B2E85C8F-9940-11F2-EAE9-90FE3BC0127F}"/>
              </a:ext>
            </a:extLst>
          </p:cNvPr>
          <p:cNvPicPr>
            <a:picLocks noChangeAspect="1"/>
          </p:cNvPicPr>
          <p:nvPr/>
        </p:nvPicPr>
        <p:blipFill>
          <a:blip r:embed="rId4"/>
          <a:stretch>
            <a:fillRect/>
          </a:stretch>
        </p:blipFill>
        <p:spPr>
          <a:xfrm>
            <a:off x="4697752" y="1534676"/>
            <a:ext cx="4165900" cy="2214107"/>
          </a:xfrm>
          <a:prstGeom prst="rect">
            <a:avLst/>
          </a:prstGeom>
        </p:spPr>
      </p:pic>
      <p:sp>
        <p:nvSpPr>
          <p:cNvPr id="19" name="Text 3">
            <a:extLst>
              <a:ext uri="{FF2B5EF4-FFF2-40B4-BE49-F238E27FC236}">
                <a16:creationId xmlns:a16="http://schemas.microsoft.com/office/drawing/2014/main" id="{BCFE732E-A1A7-8C0C-FF37-8ECE19F86659}"/>
              </a:ext>
            </a:extLst>
          </p:cNvPr>
          <p:cNvSpPr/>
          <p:nvPr/>
        </p:nvSpPr>
        <p:spPr>
          <a:xfrm>
            <a:off x="496118" y="4013337"/>
            <a:ext cx="8399602" cy="396925"/>
          </a:xfrm>
          <a:prstGeom prst="rect">
            <a:avLst/>
          </a:prstGeom>
          <a:noFill/>
          <a:ln/>
        </p:spPr>
        <p:txBody>
          <a:bodyPr wrap="square" lIns="0" tIns="0" rIns="0" bIns="0" rtlCol="0" anchor="t">
            <a:noAutofit/>
          </a:bodyPr>
          <a:lstStyle/>
          <a:p>
            <a:pPr marL="171450" indent="-171450" algn="just">
              <a:lnSpc>
                <a:spcPct val="133000"/>
              </a:lnSpc>
              <a:buFont typeface="Wingdings" panose="05000000000000000000" pitchFamily="2" charset="2"/>
              <a:buChar char="Ø"/>
            </a:pPr>
            <a:r>
              <a:rPr lang="en-US" sz="1000" dirty="0">
                <a:solidFill>
                  <a:srgbClr val="49495A"/>
                </a:solidFill>
                <a:latin typeface="Open Sans" pitchFamily="34" charset="0"/>
                <a:ea typeface="Open Sans" pitchFamily="34" charset="-122"/>
                <a:cs typeface="Open Sans" pitchFamily="34" charset="-120"/>
              </a:rPr>
              <a:t>While high-income countries report the highest absolute dollar losses due to their expensive infrastructure, relying solely on raw data is misleading. By normalizing the damage relative to GDP, we reveal the true economic burden: natural disasters disproportionately cripple the economies of low-income nations, leaving the heaviest financial toll on poorer countries</a:t>
            </a:r>
          </a:p>
        </p:txBody>
      </p:sp>
      <p:pic>
        <p:nvPicPr>
          <p:cNvPr id="21" name="Picture 20">
            <a:extLst>
              <a:ext uri="{FF2B5EF4-FFF2-40B4-BE49-F238E27FC236}">
                <a16:creationId xmlns:a16="http://schemas.microsoft.com/office/drawing/2014/main" id="{9F1179CF-FE7D-6376-502A-D205F3D4EB32}"/>
              </a:ext>
            </a:extLst>
          </p:cNvPr>
          <p:cNvPicPr>
            <a:picLocks noChangeAspect="1"/>
          </p:cNvPicPr>
          <p:nvPr/>
        </p:nvPicPr>
        <p:blipFill>
          <a:blip r:embed="rId5"/>
          <a:stretch>
            <a:fillRect/>
          </a:stretch>
        </p:blipFill>
        <p:spPr>
          <a:xfrm>
            <a:off x="6943418" y="4710195"/>
            <a:ext cx="2200582" cy="352474"/>
          </a:xfrm>
          <a:prstGeom prst="rect">
            <a:avLst/>
          </a:prstGeom>
        </p:spPr>
      </p:pic>
    </p:spTree>
    <p:extLst>
      <p:ext uri="{BB962C8B-B14F-4D97-AF65-F5344CB8AC3E}">
        <p14:creationId xmlns:p14="http://schemas.microsoft.com/office/powerpoint/2010/main" val="3774827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E6EA7-8515-676A-CFFB-3978305F4E1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24D2194-FA11-443B-D1AA-194F24C5A35D}"/>
              </a:ext>
            </a:extLst>
          </p:cNvPr>
          <p:cNvSpPr/>
          <p:nvPr/>
        </p:nvSpPr>
        <p:spPr>
          <a:xfrm>
            <a:off x="496117" y="433305"/>
            <a:ext cx="7036594"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The Rising Cost of Nature </a:t>
            </a:r>
            <a:endParaRPr lang="en-US" sz="2400" dirty="0"/>
          </a:p>
        </p:txBody>
      </p:sp>
      <p:sp>
        <p:nvSpPr>
          <p:cNvPr id="5" name="Text 3">
            <a:extLst>
              <a:ext uri="{FF2B5EF4-FFF2-40B4-BE49-F238E27FC236}">
                <a16:creationId xmlns:a16="http://schemas.microsoft.com/office/drawing/2014/main" id="{CFD582DD-0F71-7712-87F2-C6421F4438D1}"/>
              </a:ext>
            </a:extLst>
          </p:cNvPr>
          <p:cNvSpPr/>
          <p:nvPr/>
        </p:nvSpPr>
        <p:spPr>
          <a:xfrm>
            <a:off x="496117" y="985608"/>
            <a:ext cx="6530347" cy="396925"/>
          </a:xfrm>
          <a:prstGeom prst="rect">
            <a:avLst/>
          </a:prstGeom>
          <a:noFill/>
          <a:ln/>
        </p:spPr>
        <p:txBody>
          <a:bodyPr wrap="square" lIns="0" tIns="0" rIns="0" bIns="0" rtlCol="0" anchor="t">
            <a:noAutofit/>
          </a:bodyPr>
          <a:lstStyle/>
          <a:p>
            <a:pPr marL="0" indent="0" algn="just">
              <a:lnSpc>
                <a:spcPct val="133000"/>
              </a:lnSpc>
              <a:buNone/>
            </a:pPr>
            <a:r>
              <a:rPr lang="en-US" sz="1050" b="1" dirty="0">
                <a:solidFill>
                  <a:srgbClr val="49495A"/>
                </a:solidFill>
                <a:latin typeface="Open Sans" pitchFamily="34" charset="0"/>
                <a:ea typeface="Open Sans" pitchFamily="34" charset="-122"/>
                <a:cs typeface="Open Sans" pitchFamily="34" charset="-120"/>
              </a:rPr>
              <a:t>RQ2- </a:t>
            </a:r>
            <a:r>
              <a:rPr lang="en-US" sz="1050" dirty="0">
                <a:solidFill>
                  <a:srgbClr val="49495A"/>
                </a:solidFill>
                <a:latin typeface="Open Sans" pitchFamily="34" charset="0"/>
                <a:ea typeface="Open Sans" pitchFamily="34" charset="-122"/>
                <a:cs typeface="Open Sans" pitchFamily="34" charset="-120"/>
              </a:rPr>
              <a:t>Which disaster types cause the most economic damage, and has this changed over time?</a:t>
            </a:r>
            <a:endParaRPr lang="en-US" sz="1050" dirty="0"/>
          </a:p>
        </p:txBody>
      </p:sp>
      <p:sp>
        <p:nvSpPr>
          <p:cNvPr id="19" name="Text 3">
            <a:extLst>
              <a:ext uri="{FF2B5EF4-FFF2-40B4-BE49-F238E27FC236}">
                <a16:creationId xmlns:a16="http://schemas.microsoft.com/office/drawing/2014/main" id="{D72386C0-2CE5-181E-690E-204C87901B29}"/>
              </a:ext>
            </a:extLst>
          </p:cNvPr>
          <p:cNvSpPr/>
          <p:nvPr/>
        </p:nvSpPr>
        <p:spPr>
          <a:xfrm>
            <a:off x="496117" y="3863153"/>
            <a:ext cx="8364963" cy="396925"/>
          </a:xfrm>
          <a:prstGeom prst="rect">
            <a:avLst/>
          </a:prstGeom>
          <a:noFill/>
          <a:ln/>
        </p:spPr>
        <p:txBody>
          <a:bodyPr wrap="square" lIns="0" tIns="0" rIns="0" bIns="0" rtlCol="0" anchor="t">
            <a:normAutofit/>
          </a:bodyPr>
          <a:lstStyle/>
          <a:p>
            <a:pPr marL="171450" indent="-171450" algn="just">
              <a:lnSpc>
                <a:spcPct val="133000"/>
              </a:lnSpc>
              <a:buFont typeface="Wingdings" panose="05000000000000000000" pitchFamily="2" charset="2"/>
              <a:buChar char="Ø"/>
            </a:pPr>
            <a:r>
              <a:rPr lang="en-US" sz="950" dirty="0">
                <a:solidFill>
                  <a:srgbClr val="49495A"/>
                </a:solidFill>
                <a:latin typeface="Open Sans" pitchFamily="34" charset="0"/>
                <a:ea typeface="Open Sans" pitchFamily="34" charset="-122"/>
                <a:cs typeface="Open Sans" pitchFamily="34" charset="-120"/>
              </a:rPr>
              <a:t>Storms and Floods cause the highest total economic damage globally, with event frequencies rising exponentially since 1970 — consistent with climate change literature</a:t>
            </a:r>
          </a:p>
        </p:txBody>
      </p:sp>
      <p:pic>
        <p:nvPicPr>
          <p:cNvPr id="3" name="Picture 2">
            <a:extLst>
              <a:ext uri="{FF2B5EF4-FFF2-40B4-BE49-F238E27FC236}">
                <a16:creationId xmlns:a16="http://schemas.microsoft.com/office/drawing/2014/main" id="{7F407F12-F3EA-D572-049E-5831912FF2F8}"/>
              </a:ext>
            </a:extLst>
          </p:cNvPr>
          <p:cNvPicPr>
            <a:picLocks noChangeAspect="1"/>
          </p:cNvPicPr>
          <p:nvPr/>
        </p:nvPicPr>
        <p:blipFill>
          <a:blip r:embed="rId3"/>
          <a:stretch>
            <a:fillRect/>
          </a:stretch>
        </p:blipFill>
        <p:spPr>
          <a:xfrm>
            <a:off x="496117" y="1501438"/>
            <a:ext cx="4027636" cy="2196959"/>
          </a:xfrm>
          <a:prstGeom prst="rect">
            <a:avLst/>
          </a:prstGeom>
        </p:spPr>
      </p:pic>
      <p:pic>
        <p:nvPicPr>
          <p:cNvPr id="7" name="Picture 6">
            <a:extLst>
              <a:ext uri="{FF2B5EF4-FFF2-40B4-BE49-F238E27FC236}">
                <a16:creationId xmlns:a16="http://schemas.microsoft.com/office/drawing/2014/main" id="{0E7BC846-17AE-338D-BEFD-643E51207435}"/>
              </a:ext>
            </a:extLst>
          </p:cNvPr>
          <p:cNvPicPr>
            <a:picLocks noChangeAspect="1"/>
          </p:cNvPicPr>
          <p:nvPr/>
        </p:nvPicPr>
        <p:blipFill>
          <a:blip r:embed="rId4"/>
          <a:stretch>
            <a:fillRect/>
          </a:stretch>
        </p:blipFill>
        <p:spPr>
          <a:xfrm>
            <a:off x="4713236" y="1501439"/>
            <a:ext cx="4071099" cy="2196959"/>
          </a:xfrm>
          <a:prstGeom prst="rect">
            <a:avLst/>
          </a:prstGeom>
        </p:spPr>
      </p:pic>
      <p:sp>
        <p:nvSpPr>
          <p:cNvPr id="8" name="Text 3">
            <a:extLst>
              <a:ext uri="{FF2B5EF4-FFF2-40B4-BE49-F238E27FC236}">
                <a16:creationId xmlns:a16="http://schemas.microsoft.com/office/drawing/2014/main" id="{8FBFA264-6043-3853-26E4-8D27016B236C}"/>
              </a:ext>
            </a:extLst>
          </p:cNvPr>
          <p:cNvSpPr/>
          <p:nvPr/>
        </p:nvSpPr>
        <p:spPr>
          <a:xfrm>
            <a:off x="496117" y="4410262"/>
            <a:ext cx="8364963" cy="396925"/>
          </a:xfrm>
          <a:prstGeom prst="rect">
            <a:avLst/>
          </a:prstGeom>
          <a:noFill/>
          <a:ln/>
        </p:spPr>
        <p:txBody>
          <a:bodyPr wrap="square" lIns="0" tIns="0" rIns="0" bIns="0" rtlCol="0" anchor="t">
            <a:normAutofit/>
          </a:bodyPr>
          <a:lstStyle/>
          <a:p>
            <a:pPr marL="171450" indent="-171450" algn="just">
              <a:lnSpc>
                <a:spcPct val="133000"/>
              </a:lnSpc>
              <a:buFont typeface="Wingdings" panose="05000000000000000000" pitchFamily="2" charset="2"/>
              <a:buChar char="Ø"/>
            </a:pPr>
            <a:r>
              <a:rPr lang="en-US" sz="950" dirty="0">
                <a:solidFill>
                  <a:srgbClr val="49495A"/>
                </a:solidFill>
                <a:latin typeface="Open Sans" pitchFamily="34" charset="0"/>
                <a:ea typeface="Open Sans" pitchFamily="34" charset="-122"/>
                <a:cs typeface="Open Sans" pitchFamily="34" charset="-120"/>
              </a:rPr>
              <a:t>The massive spikes in the timeline perfectly align with historic extreme events, such as Hurricane Katrina (2005), the Japan Earthquake  (2011)</a:t>
            </a:r>
          </a:p>
        </p:txBody>
      </p:sp>
      <p:pic>
        <p:nvPicPr>
          <p:cNvPr id="10" name="Picture 9">
            <a:extLst>
              <a:ext uri="{FF2B5EF4-FFF2-40B4-BE49-F238E27FC236}">
                <a16:creationId xmlns:a16="http://schemas.microsoft.com/office/drawing/2014/main" id="{4841D961-562E-1AA0-18EE-22F6716F1C72}"/>
              </a:ext>
            </a:extLst>
          </p:cNvPr>
          <p:cNvPicPr>
            <a:picLocks noChangeAspect="1"/>
          </p:cNvPicPr>
          <p:nvPr/>
        </p:nvPicPr>
        <p:blipFill>
          <a:blip r:embed="rId5"/>
          <a:stretch>
            <a:fillRect/>
          </a:stretch>
        </p:blipFill>
        <p:spPr>
          <a:xfrm>
            <a:off x="6943418" y="4781134"/>
            <a:ext cx="2200582" cy="352474"/>
          </a:xfrm>
          <a:prstGeom prst="rect">
            <a:avLst/>
          </a:prstGeom>
        </p:spPr>
      </p:pic>
    </p:spTree>
    <p:extLst>
      <p:ext uri="{BB962C8B-B14F-4D97-AF65-F5344CB8AC3E}">
        <p14:creationId xmlns:p14="http://schemas.microsoft.com/office/powerpoint/2010/main" val="1071884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B0D81-637A-6CEB-F474-9F1C0F01C80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29017BF-B217-A6AB-6E2E-BDD68DD65823}"/>
              </a:ext>
            </a:extLst>
          </p:cNvPr>
          <p:cNvSpPr/>
          <p:nvPr/>
        </p:nvSpPr>
        <p:spPr>
          <a:xfrm>
            <a:off x="390081" y="411144"/>
            <a:ext cx="7036594" cy="387548"/>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Libre Baskerville" pitchFamily="34" charset="0"/>
                <a:ea typeface="Libre Baskerville" pitchFamily="34" charset="-122"/>
                <a:cs typeface="Libre Baskerville" pitchFamily="34" charset="-120"/>
              </a:rPr>
              <a:t>The Geography of Destruction</a:t>
            </a:r>
            <a:endParaRPr lang="en-US" sz="2400" dirty="0"/>
          </a:p>
        </p:txBody>
      </p:sp>
      <p:sp>
        <p:nvSpPr>
          <p:cNvPr id="5" name="Text 3">
            <a:extLst>
              <a:ext uri="{FF2B5EF4-FFF2-40B4-BE49-F238E27FC236}">
                <a16:creationId xmlns:a16="http://schemas.microsoft.com/office/drawing/2014/main" id="{B4924CF0-6A1F-CE9D-067B-914DF57A6EA1}"/>
              </a:ext>
            </a:extLst>
          </p:cNvPr>
          <p:cNvSpPr/>
          <p:nvPr/>
        </p:nvSpPr>
        <p:spPr>
          <a:xfrm>
            <a:off x="390081" y="919552"/>
            <a:ext cx="5658619" cy="396925"/>
          </a:xfrm>
          <a:prstGeom prst="rect">
            <a:avLst/>
          </a:prstGeom>
          <a:noFill/>
          <a:ln/>
        </p:spPr>
        <p:txBody>
          <a:bodyPr wrap="square" lIns="0" tIns="0" rIns="0" bIns="0" rtlCol="0" anchor="t">
            <a:noAutofit/>
          </a:bodyPr>
          <a:lstStyle/>
          <a:p>
            <a:pPr marL="0" indent="0" algn="just">
              <a:lnSpc>
                <a:spcPct val="133000"/>
              </a:lnSpc>
              <a:buNone/>
            </a:pPr>
            <a:r>
              <a:rPr lang="en-US" sz="1050" b="1" dirty="0">
                <a:solidFill>
                  <a:srgbClr val="49495A"/>
                </a:solidFill>
                <a:latin typeface="Open Sans" pitchFamily="34" charset="0"/>
                <a:ea typeface="Open Sans" pitchFamily="34" charset="-122"/>
                <a:cs typeface="Open Sans" pitchFamily="34" charset="-120"/>
              </a:rPr>
              <a:t>RQ3- </a:t>
            </a:r>
            <a:r>
              <a:rPr lang="en-US" sz="1050" dirty="0">
                <a:solidFill>
                  <a:srgbClr val="49495A"/>
                </a:solidFill>
                <a:latin typeface="Open Sans" pitchFamily="34" charset="0"/>
                <a:ea typeface="Open Sans" pitchFamily="34" charset="-122"/>
                <a:cs typeface="Open Sans" pitchFamily="34" charset="-120"/>
              </a:rPr>
              <a:t>How do disaster frequencies and economic losses vary across different continents?</a:t>
            </a:r>
            <a:endParaRPr lang="en-US" sz="1050" dirty="0"/>
          </a:p>
        </p:txBody>
      </p:sp>
      <p:sp>
        <p:nvSpPr>
          <p:cNvPr id="8" name="Text 3">
            <a:extLst>
              <a:ext uri="{FF2B5EF4-FFF2-40B4-BE49-F238E27FC236}">
                <a16:creationId xmlns:a16="http://schemas.microsoft.com/office/drawing/2014/main" id="{51108B8C-2C18-36B9-EF72-7BF82766E803}"/>
              </a:ext>
            </a:extLst>
          </p:cNvPr>
          <p:cNvSpPr/>
          <p:nvPr/>
        </p:nvSpPr>
        <p:spPr>
          <a:xfrm>
            <a:off x="4842704" y="1672038"/>
            <a:ext cx="5658619" cy="396925"/>
          </a:xfrm>
          <a:prstGeom prst="rect">
            <a:avLst/>
          </a:prstGeom>
          <a:noFill/>
          <a:ln/>
        </p:spPr>
        <p:txBody>
          <a:bodyPr wrap="square" lIns="0" tIns="0" rIns="0" bIns="0" rtlCol="0" anchor="t">
            <a:noAutofit/>
          </a:bodyPr>
          <a:lstStyle/>
          <a:p>
            <a:endParaRPr lang="en-US" sz="1050" dirty="0">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a:extLst>
              <a:ext uri="{FF2B5EF4-FFF2-40B4-BE49-F238E27FC236}">
                <a16:creationId xmlns:a16="http://schemas.microsoft.com/office/drawing/2014/main" id="{F0B11343-AAA3-BDBD-3B7D-E25DDDE103BE}"/>
              </a:ext>
            </a:extLst>
          </p:cNvPr>
          <p:cNvPicPr>
            <a:picLocks noChangeAspect="1"/>
          </p:cNvPicPr>
          <p:nvPr/>
        </p:nvPicPr>
        <p:blipFill>
          <a:blip r:embed="rId3"/>
          <a:stretch>
            <a:fillRect/>
          </a:stretch>
        </p:blipFill>
        <p:spPr>
          <a:xfrm>
            <a:off x="390081" y="1533914"/>
            <a:ext cx="4181919" cy="2222621"/>
          </a:xfrm>
          <a:prstGeom prst="rect">
            <a:avLst/>
          </a:prstGeom>
        </p:spPr>
      </p:pic>
      <p:pic>
        <p:nvPicPr>
          <p:cNvPr id="12" name="Picture 11">
            <a:extLst>
              <a:ext uri="{FF2B5EF4-FFF2-40B4-BE49-F238E27FC236}">
                <a16:creationId xmlns:a16="http://schemas.microsoft.com/office/drawing/2014/main" id="{170E17CF-F297-B2F7-006E-7625006C845B}"/>
              </a:ext>
            </a:extLst>
          </p:cNvPr>
          <p:cNvPicPr>
            <a:picLocks noChangeAspect="1"/>
          </p:cNvPicPr>
          <p:nvPr/>
        </p:nvPicPr>
        <p:blipFill>
          <a:blip r:embed="rId4"/>
          <a:stretch>
            <a:fillRect/>
          </a:stretch>
        </p:blipFill>
        <p:spPr>
          <a:xfrm>
            <a:off x="4791455" y="1533913"/>
            <a:ext cx="4181919" cy="2222621"/>
          </a:xfrm>
          <a:prstGeom prst="rect">
            <a:avLst/>
          </a:prstGeom>
        </p:spPr>
      </p:pic>
      <p:sp>
        <p:nvSpPr>
          <p:cNvPr id="13" name="Text 3">
            <a:extLst>
              <a:ext uri="{FF2B5EF4-FFF2-40B4-BE49-F238E27FC236}">
                <a16:creationId xmlns:a16="http://schemas.microsoft.com/office/drawing/2014/main" id="{A781A2F4-595C-3803-FE70-531EFCD29111}"/>
              </a:ext>
            </a:extLst>
          </p:cNvPr>
          <p:cNvSpPr/>
          <p:nvPr/>
        </p:nvSpPr>
        <p:spPr>
          <a:xfrm>
            <a:off x="443477" y="3998255"/>
            <a:ext cx="8529897" cy="396925"/>
          </a:xfrm>
          <a:prstGeom prst="rect">
            <a:avLst/>
          </a:prstGeom>
          <a:noFill/>
          <a:ln/>
        </p:spPr>
        <p:txBody>
          <a:bodyPr wrap="square" lIns="0" tIns="0" rIns="0" bIns="0" rtlCol="0" anchor="t">
            <a:noAutofit/>
          </a:bodyPr>
          <a:lstStyle/>
          <a:p>
            <a:pPr marL="171450" indent="-171450" algn="just">
              <a:lnSpc>
                <a:spcPct val="133000"/>
              </a:lnSpc>
              <a:buFont typeface="Wingdings" panose="05000000000000000000" pitchFamily="2" charset="2"/>
              <a:buChar char="Ø"/>
            </a:pPr>
            <a:r>
              <a:rPr lang="en-US" sz="1050" dirty="0">
                <a:solidFill>
                  <a:srgbClr val="49495A"/>
                </a:solidFill>
                <a:latin typeface="Open Sans" pitchFamily="34" charset="0"/>
                <a:ea typeface="Open Sans" pitchFamily="34" charset="-122"/>
                <a:cs typeface="Open Sans" pitchFamily="34" charset="-120"/>
              </a:rPr>
              <a:t>Geographical analysis reveals a stark contrast: While Asia experiences the highest frequency of disaster events, the Americas endure the highest average economic damage per event, largely driven by catastrophic storms.</a:t>
            </a:r>
            <a:endParaRPr lang="en-US" sz="1050" dirty="0"/>
          </a:p>
        </p:txBody>
      </p:sp>
      <p:pic>
        <p:nvPicPr>
          <p:cNvPr id="15" name="Picture 14">
            <a:extLst>
              <a:ext uri="{FF2B5EF4-FFF2-40B4-BE49-F238E27FC236}">
                <a16:creationId xmlns:a16="http://schemas.microsoft.com/office/drawing/2014/main" id="{274BFAD6-A4DD-B31E-3CDB-370B7F9E949A}"/>
              </a:ext>
            </a:extLst>
          </p:cNvPr>
          <p:cNvPicPr>
            <a:picLocks noChangeAspect="1"/>
          </p:cNvPicPr>
          <p:nvPr/>
        </p:nvPicPr>
        <p:blipFill>
          <a:blip r:embed="rId5"/>
          <a:stretch>
            <a:fillRect/>
          </a:stretch>
        </p:blipFill>
        <p:spPr>
          <a:xfrm>
            <a:off x="6927610" y="4750741"/>
            <a:ext cx="2200582" cy="352474"/>
          </a:xfrm>
          <a:prstGeom prst="rect">
            <a:avLst/>
          </a:prstGeom>
        </p:spPr>
      </p:pic>
    </p:spTree>
    <p:extLst>
      <p:ext uri="{BB962C8B-B14F-4D97-AF65-F5344CB8AC3E}">
        <p14:creationId xmlns:p14="http://schemas.microsoft.com/office/powerpoint/2010/main" val="392966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339</TotalTime>
  <Words>709</Words>
  <Application>Microsoft Office PowerPoint</Application>
  <PresentationFormat>On-screen Show (16:9)</PresentationFormat>
  <Paragraphs>65</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Libre Baskerville</vt:lpstr>
      <vt:lpstr>DM Sans</vt:lpstr>
      <vt:lpstr>Open Sans</vt:lpstr>
      <vt:lpstr>Arial</vt:lpstr>
      <vt:lpstr>Wingdings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Emre Kiran</cp:lastModifiedBy>
  <cp:revision>5</cp:revision>
  <dcterms:created xsi:type="dcterms:W3CDTF">2026-05-19T15:29:32Z</dcterms:created>
  <dcterms:modified xsi:type="dcterms:W3CDTF">2026-05-19T23:47:46Z</dcterms:modified>
</cp:coreProperties>
</file>